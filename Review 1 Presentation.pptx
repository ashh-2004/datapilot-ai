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7" r:id="rId2"/>
    <p:sldId id="257" r:id="rId3"/>
    <p:sldId id="258" r:id="rId4"/>
    <p:sldId id="259" r:id="rId5"/>
    <p:sldId id="261" r:id="rId6"/>
    <p:sldId id="262" r:id="rId7"/>
    <p:sldId id="263" r:id="rId8"/>
    <p:sldId id="265" r:id="rId9"/>
    <p:sldId id="266"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snapToObjects="1">
      <p:cViewPr varScale="1">
        <p:scale>
          <a:sx n="84" d="100"/>
          <a:sy n="84" d="100"/>
        </p:scale>
        <p:origin x="658"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a:extLst>
            <a:ext uri="{FF2B5EF4-FFF2-40B4-BE49-F238E27FC236}">
              <a16:creationId xmlns:a16="http://schemas.microsoft.com/office/drawing/2014/main" id="{16159C9C-1B40-5D8B-C6EC-864625403DC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F09F9CE-944C-0FE8-5C22-287AB3D92E90}"/>
              </a:ext>
            </a:extLst>
          </p:cNvPr>
          <p:cNvSpPr txBox="1"/>
          <p:nvPr/>
        </p:nvSpPr>
        <p:spPr>
          <a:xfrm>
            <a:off x="502920" y="256032"/>
            <a:ext cx="2103120" cy="246221"/>
          </a:xfrm>
          <a:prstGeom prst="rect">
            <a:avLst/>
          </a:prstGeom>
          <a:noFill/>
        </p:spPr>
        <p:txBody>
          <a:bodyPr wrap="square" lIns="45720" rIns="45720" anchor="t">
            <a:spAutoFit/>
          </a:bodyPr>
          <a:lstStyle/>
          <a:p>
            <a:pPr algn="l"/>
            <a:r>
              <a:rPr sz="1000" b="0" i="0" dirty="0">
                <a:solidFill>
                  <a:srgbClr val="8B949E"/>
                </a:solidFill>
                <a:latin typeface="IBM Plex Mono"/>
              </a:rPr>
              <a:t>DATAPILOT AI  /  0</a:t>
            </a:r>
            <a:r>
              <a:rPr lang="en-IN" sz="1000" b="0" i="0" dirty="0">
                <a:solidFill>
                  <a:srgbClr val="8B949E"/>
                </a:solidFill>
                <a:latin typeface="IBM Plex Mono"/>
              </a:rPr>
              <a:t>1</a:t>
            </a:r>
            <a:endParaRPr sz="1000" b="0" i="0" dirty="0">
              <a:solidFill>
                <a:srgbClr val="8B949E"/>
              </a:solidFill>
              <a:latin typeface="IBM Plex Mono"/>
            </a:endParaRPr>
          </a:p>
        </p:txBody>
      </p:sp>
      <p:sp>
        <p:nvSpPr>
          <p:cNvPr id="6" name="Rectangle 5">
            <a:extLst>
              <a:ext uri="{FF2B5EF4-FFF2-40B4-BE49-F238E27FC236}">
                <a16:creationId xmlns:a16="http://schemas.microsoft.com/office/drawing/2014/main" id="{51B90853-5AC4-80D4-E838-B68DC4321681}"/>
              </a:ext>
            </a:extLst>
          </p:cNvPr>
          <p:cNvSpPr/>
          <p:nvPr/>
        </p:nvSpPr>
        <p:spPr>
          <a:xfrm>
            <a:off x="502920" y="585216"/>
            <a:ext cx="11183112" cy="9144"/>
          </a:xfrm>
          <a:prstGeom prst="rect">
            <a:avLst/>
          </a:prstGeom>
          <a:solidFill>
            <a:srgbClr val="303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a:extLst>
              <a:ext uri="{FF2B5EF4-FFF2-40B4-BE49-F238E27FC236}">
                <a16:creationId xmlns:a16="http://schemas.microsoft.com/office/drawing/2014/main" id="{D00D83A3-CA2E-622E-A08B-99EC5A4D9B1C}"/>
              </a:ext>
            </a:extLst>
          </p:cNvPr>
          <p:cNvSpPr txBox="1"/>
          <p:nvPr/>
        </p:nvSpPr>
        <p:spPr>
          <a:xfrm>
            <a:off x="566928" y="6519672"/>
            <a:ext cx="5852160" cy="164592"/>
          </a:xfrm>
          <a:prstGeom prst="rect">
            <a:avLst/>
          </a:prstGeom>
          <a:noFill/>
        </p:spPr>
        <p:txBody>
          <a:bodyPr wrap="square" lIns="45720" rIns="45720" anchor="t">
            <a:spAutoFit/>
          </a:bodyPr>
          <a:lstStyle/>
          <a:p>
            <a:pPr algn="l"/>
            <a:r>
              <a:rPr sz="900" b="0" i="0">
                <a:solidFill>
                  <a:srgbClr val="8B949E"/>
                </a:solidFill>
                <a:latin typeface="IBM Plex Mono"/>
              </a:rPr>
              <a:t>DATA PILOT AI  /  DECISION INTELLIGENCE</a:t>
            </a:r>
          </a:p>
        </p:txBody>
      </p:sp>
      <p:sp>
        <p:nvSpPr>
          <p:cNvPr id="33" name="TextBox 32">
            <a:extLst>
              <a:ext uri="{FF2B5EF4-FFF2-40B4-BE49-F238E27FC236}">
                <a16:creationId xmlns:a16="http://schemas.microsoft.com/office/drawing/2014/main" id="{D91D0BD4-3DA6-12D6-8E45-E4C9A5FFBB7C}"/>
              </a:ext>
            </a:extLst>
          </p:cNvPr>
          <p:cNvSpPr txBox="1"/>
          <p:nvPr/>
        </p:nvSpPr>
        <p:spPr>
          <a:xfrm>
            <a:off x="11201400" y="6501384"/>
            <a:ext cx="228600" cy="182880"/>
          </a:xfrm>
          <a:prstGeom prst="rect">
            <a:avLst/>
          </a:prstGeom>
          <a:noFill/>
        </p:spPr>
        <p:txBody>
          <a:bodyPr wrap="square" lIns="45720" rIns="45720" anchor="t">
            <a:spAutoFit/>
          </a:bodyPr>
          <a:lstStyle/>
          <a:p>
            <a:r>
              <a:rPr sz="900"/>
              <a:t>→</a:t>
            </a:r>
          </a:p>
        </p:txBody>
      </p:sp>
      <p:sp>
        <p:nvSpPr>
          <p:cNvPr id="4" name="Rounded Rectangle 1">
            <a:extLst>
              <a:ext uri="{FF2B5EF4-FFF2-40B4-BE49-F238E27FC236}">
                <a16:creationId xmlns:a16="http://schemas.microsoft.com/office/drawing/2014/main" id="{B8A91D7A-E4A2-72A3-CA01-9147E6D8C6FF}"/>
              </a:ext>
            </a:extLst>
          </p:cNvPr>
          <p:cNvSpPr/>
          <p:nvPr/>
        </p:nvSpPr>
        <p:spPr>
          <a:xfrm>
            <a:off x="566928" y="4753349"/>
            <a:ext cx="4572000" cy="1457325"/>
          </a:xfrm>
          <a:prstGeom prst="roundRect">
            <a:avLst>
              <a:gd name="adj" fmla="val 7843"/>
            </a:avLst>
          </a:prstGeom>
          <a:solidFill>
            <a:srgbClr val="192333"/>
          </a:solidFill>
          <a:ln w="9525">
            <a:solidFill>
              <a:srgbClr val="2327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IBM Plex Sans" panose="020B0503050203000203" pitchFamily="34" charset="0"/>
            </a:endParaRPr>
          </a:p>
        </p:txBody>
      </p:sp>
      <p:sp>
        <p:nvSpPr>
          <p:cNvPr id="34" name="Rectangle 33">
            <a:extLst>
              <a:ext uri="{FF2B5EF4-FFF2-40B4-BE49-F238E27FC236}">
                <a16:creationId xmlns:a16="http://schemas.microsoft.com/office/drawing/2014/main" id="{0299D4EB-9746-7204-236E-FBB9AD6A8DC0}"/>
              </a:ext>
            </a:extLst>
          </p:cNvPr>
          <p:cNvSpPr/>
          <p:nvPr/>
        </p:nvSpPr>
        <p:spPr>
          <a:xfrm>
            <a:off x="805053" y="5743949"/>
            <a:ext cx="4095750" cy="9525"/>
          </a:xfrm>
          <a:prstGeom prst="rect">
            <a:avLst/>
          </a:prstGeom>
          <a:solidFill>
            <a:srgbClr val="FFFF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IBM Plex Sans" panose="020B0503050203000203" pitchFamily="34" charset="0"/>
            </a:endParaRPr>
          </a:p>
        </p:txBody>
      </p:sp>
      <p:sp>
        <p:nvSpPr>
          <p:cNvPr id="36" name="TextBox 35">
            <a:extLst>
              <a:ext uri="{FF2B5EF4-FFF2-40B4-BE49-F238E27FC236}">
                <a16:creationId xmlns:a16="http://schemas.microsoft.com/office/drawing/2014/main" id="{4CF30047-0DDC-695C-B48A-C323B4508D22}"/>
              </a:ext>
            </a:extLst>
          </p:cNvPr>
          <p:cNvSpPr txBox="1"/>
          <p:nvPr/>
        </p:nvSpPr>
        <p:spPr>
          <a:xfrm>
            <a:off x="566928" y="2946149"/>
            <a:ext cx="3436838" cy="628377"/>
          </a:xfrm>
          <a:prstGeom prst="rect">
            <a:avLst/>
          </a:prstGeom>
          <a:noFill/>
        </p:spPr>
        <p:txBody>
          <a:bodyPr wrap="none" lIns="0" tIns="0" rIns="0" bIns="0" anchor="t">
            <a:spAutoFit/>
          </a:bodyPr>
          <a:lstStyle/>
          <a:p>
            <a:pPr algn="l">
              <a:lnSpc>
                <a:spcPts val="4882"/>
              </a:lnSpc>
            </a:pPr>
            <a:r>
              <a:rPr sz="4650" b="1" i="0" u="none" dirty="0" err="1">
                <a:solidFill>
                  <a:srgbClr val="FFFFFF"/>
                </a:solidFill>
                <a:latin typeface="IBM Plex Sans" panose="020B0503050203000203" pitchFamily="34" charset="0"/>
              </a:rPr>
              <a:t>DataPilot</a:t>
            </a:r>
            <a:r>
              <a:rPr sz="4650" b="1" i="0" u="none" dirty="0">
                <a:solidFill>
                  <a:srgbClr val="FFFFFF"/>
                </a:solidFill>
                <a:latin typeface="IBM Plex Sans" panose="020B0503050203000203" pitchFamily="34" charset="0"/>
              </a:rPr>
              <a:t> AI</a:t>
            </a:r>
          </a:p>
        </p:txBody>
      </p:sp>
      <p:sp>
        <p:nvSpPr>
          <p:cNvPr id="38" name="TextBox 37">
            <a:extLst>
              <a:ext uri="{FF2B5EF4-FFF2-40B4-BE49-F238E27FC236}">
                <a16:creationId xmlns:a16="http://schemas.microsoft.com/office/drawing/2014/main" id="{9A855968-0CB7-ED45-0552-87745B58ED9A}"/>
              </a:ext>
            </a:extLst>
          </p:cNvPr>
          <p:cNvSpPr txBox="1"/>
          <p:nvPr/>
        </p:nvSpPr>
        <p:spPr>
          <a:xfrm>
            <a:off x="566928" y="3653498"/>
            <a:ext cx="5486400" cy="400110"/>
          </a:xfrm>
          <a:prstGeom prst="rect">
            <a:avLst/>
          </a:prstGeom>
          <a:noFill/>
        </p:spPr>
        <p:txBody>
          <a:bodyPr wrap="square" lIns="0" tIns="0" rIns="0" bIns="0" anchor="t">
            <a:spAutoFit/>
          </a:bodyPr>
          <a:lstStyle/>
          <a:p>
            <a:r>
              <a:rPr lang="en-IN" sz="1300" b="1" dirty="0">
                <a:solidFill>
                  <a:schemeClr val="accent5"/>
                </a:solidFill>
                <a:latin typeface="IBM Plex Sans" panose="020B0503050203000203" pitchFamily="34" charset="0"/>
              </a:rPr>
              <a:t>AUTONOMOUS BUSINESS INTELLIGENCE &amp; DECISION     INTELLIGENCE</a:t>
            </a:r>
            <a:endParaRPr lang="en-IN" sz="1300" dirty="0">
              <a:solidFill>
                <a:schemeClr val="accent5"/>
              </a:solidFill>
              <a:latin typeface="IBM Plex Sans" panose="020B0503050203000203" pitchFamily="34" charset="0"/>
            </a:endParaRPr>
          </a:p>
        </p:txBody>
      </p:sp>
      <p:sp>
        <p:nvSpPr>
          <p:cNvPr id="40" name="TextBox 39">
            <a:extLst>
              <a:ext uri="{FF2B5EF4-FFF2-40B4-BE49-F238E27FC236}">
                <a16:creationId xmlns:a16="http://schemas.microsoft.com/office/drawing/2014/main" id="{ECC0ACF2-2EF6-4B44-7720-628CCDE4BEED}"/>
              </a:ext>
            </a:extLst>
          </p:cNvPr>
          <p:cNvSpPr txBox="1"/>
          <p:nvPr/>
        </p:nvSpPr>
        <p:spPr>
          <a:xfrm>
            <a:off x="805053" y="4934324"/>
            <a:ext cx="3329438" cy="184666"/>
          </a:xfrm>
          <a:prstGeom prst="rect">
            <a:avLst/>
          </a:prstGeom>
          <a:noFill/>
        </p:spPr>
        <p:txBody>
          <a:bodyPr wrap="none" lIns="0" tIns="0" rIns="0" bIns="0" anchor="t">
            <a:spAutoFit/>
          </a:bodyPr>
          <a:lstStyle/>
          <a:p>
            <a:pPr algn="l"/>
            <a:r>
              <a:rPr sz="1200" b="0" i="0" u="none">
                <a:solidFill>
                  <a:srgbClr val="64748B"/>
                </a:solidFill>
                <a:latin typeface="IBM Plex Sans" panose="020B0503050203000203" pitchFamily="34" charset="0"/>
              </a:rPr>
              <a:t>Presented by: </a:t>
            </a:r>
            <a:r>
              <a:rPr sz="1200" b="1" i="0" u="none">
                <a:solidFill>
                  <a:srgbClr val="F8FAFC"/>
                </a:solidFill>
                <a:latin typeface="IBM Plex Sans" panose="020B0503050203000203" pitchFamily="34" charset="0"/>
              </a:rPr>
              <a:t>M Ashish Ramana</a:t>
            </a:r>
            <a:r>
              <a:rPr sz="1200" b="0" i="0" u="none">
                <a:solidFill>
                  <a:srgbClr val="64748B"/>
                </a:solidFill>
                <a:latin typeface="IBM Plex Sans" panose="020B0503050203000203" pitchFamily="34" charset="0"/>
              </a:rPr>
              <a:t>  </a:t>
            </a:r>
            <a:r>
              <a:rPr sz="1125" b="0" i="0" u="none">
                <a:solidFill>
                  <a:srgbClr val="38BDF8"/>
                </a:solidFill>
                <a:latin typeface="IBM Plex Sans" panose="020B0503050203000203" pitchFamily="34" charset="0"/>
              </a:rPr>
              <a:t>(1BI25MC060)</a:t>
            </a:r>
          </a:p>
        </p:txBody>
      </p:sp>
      <p:sp>
        <p:nvSpPr>
          <p:cNvPr id="42" name="TextBox 41">
            <a:extLst>
              <a:ext uri="{FF2B5EF4-FFF2-40B4-BE49-F238E27FC236}">
                <a16:creationId xmlns:a16="http://schemas.microsoft.com/office/drawing/2014/main" id="{C40085DF-055E-8AFC-BC41-07687CFDAF54}"/>
              </a:ext>
            </a:extLst>
          </p:cNvPr>
          <p:cNvSpPr txBox="1"/>
          <p:nvPr/>
        </p:nvSpPr>
        <p:spPr>
          <a:xfrm>
            <a:off x="805053" y="5191499"/>
            <a:ext cx="1234312" cy="184666"/>
          </a:xfrm>
          <a:prstGeom prst="rect">
            <a:avLst/>
          </a:prstGeom>
          <a:noFill/>
        </p:spPr>
        <p:txBody>
          <a:bodyPr wrap="none" lIns="0" tIns="0" rIns="0" bIns="0" anchor="t">
            <a:spAutoFit/>
          </a:bodyPr>
          <a:lstStyle/>
          <a:p>
            <a:pPr algn="l"/>
            <a:r>
              <a:rPr sz="1200" b="0" i="0" u="none">
                <a:solidFill>
                  <a:srgbClr val="64748B"/>
                </a:solidFill>
                <a:latin typeface="IBM Plex Sans" panose="020B0503050203000203" pitchFamily="34" charset="0"/>
              </a:rPr>
              <a:t>Department: </a:t>
            </a:r>
            <a:r>
              <a:rPr sz="1200" b="0" i="0" u="none">
                <a:solidFill>
                  <a:srgbClr val="F8FAFC"/>
                </a:solidFill>
                <a:latin typeface="IBM Plex Sans" panose="020B0503050203000203" pitchFamily="34" charset="0"/>
              </a:rPr>
              <a:t>MCA</a:t>
            </a:r>
          </a:p>
        </p:txBody>
      </p:sp>
      <p:sp>
        <p:nvSpPr>
          <p:cNvPr id="44" name="TextBox 43">
            <a:extLst>
              <a:ext uri="{FF2B5EF4-FFF2-40B4-BE49-F238E27FC236}">
                <a16:creationId xmlns:a16="http://schemas.microsoft.com/office/drawing/2014/main" id="{278B9DA5-78F6-E07B-DD0F-728665F529BA}"/>
              </a:ext>
            </a:extLst>
          </p:cNvPr>
          <p:cNvSpPr txBox="1"/>
          <p:nvPr/>
        </p:nvSpPr>
        <p:spPr>
          <a:xfrm>
            <a:off x="805053" y="5448674"/>
            <a:ext cx="1575752" cy="184666"/>
          </a:xfrm>
          <a:prstGeom prst="rect">
            <a:avLst/>
          </a:prstGeom>
          <a:noFill/>
        </p:spPr>
        <p:txBody>
          <a:bodyPr wrap="none" lIns="0" tIns="0" rIns="0" bIns="0" anchor="t">
            <a:spAutoFit/>
          </a:bodyPr>
          <a:lstStyle/>
          <a:p>
            <a:pPr algn="l"/>
            <a:r>
              <a:rPr sz="1200" b="0" i="0" u="none">
                <a:solidFill>
                  <a:srgbClr val="64748B"/>
                </a:solidFill>
                <a:latin typeface="IBM Plex Sans" panose="020B0503050203000203" pitchFamily="34" charset="0"/>
              </a:rPr>
              <a:t>Guide Name: </a:t>
            </a:r>
            <a:r>
              <a:rPr sz="1200" b="0" i="0" u="none">
                <a:solidFill>
                  <a:srgbClr val="F8FAFC"/>
                </a:solidFill>
                <a:latin typeface="IBM Plex Sans" panose="020B0503050203000203" pitchFamily="34" charset="0"/>
              </a:rPr>
              <a:t>Suma NR</a:t>
            </a:r>
          </a:p>
        </p:txBody>
      </p:sp>
      <p:sp>
        <p:nvSpPr>
          <p:cNvPr id="46" name="TextBox 45">
            <a:extLst>
              <a:ext uri="{FF2B5EF4-FFF2-40B4-BE49-F238E27FC236}">
                <a16:creationId xmlns:a16="http://schemas.microsoft.com/office/drawing/2014/main" id="{3B2A2B7C-14F1-694C-4B84-AFD09174F2C2}"/>
              </a:ext>
            </a:extLst>
          </p:cNvPr>
          <p:cNvSpPr txBox="1"/>
          <p:nvPr/>
        </p:nvSpPr>
        <p:spPr>
          <a:xfrm>
            <a:off x="805053" y="5848724"/>
            <a:ext cx="1142942" cy="173124"/>
          </a:xfrm>
          <a:prstGeom prst="rect">
            <a:avLst/>
          </a:prstGeom>
          <a:noFill/>
        </p:spPr>
        <p:txBody>
          <a:bodyPr wrap="none" lIns="0" tIns="0" rIns="0" bIns="0" anchor="t">
            <a:spAutoFit/>
          </a:bodyPr>
          <a:lstStyle/>
          <a:p>
            <a:pPr algn="l"/>
            <a:r>
              <a:rPr sz="1125" b="1" i="0" u="none">
                <a:solidFill>
                  <a:srgbClr val="2DD4BF"/>
                </a:solidFill>
                <a:latin typeface="IBM Plex Sans" panose="020B0503050203000203" pitchFamily="34" charset="0"/>
              </a:rPr>
              <a:t>Project Review 1</a:t>
            </a:r>
          </a:p>
        </p:txBody>
      </p:sp>
      <p:sp>
        <p:nvSpPr>
          <p:cNvPr id="48" name="TextBox 47">
            <a:extLst>
              <a:ext uri="{FF2B5EF4-FFF2-40B4-BE49-F238E27FC236}">
                <a16:creationId xmlns:a16="http://schemas.microsoft.com/office/drawing/2014/main" id="{91A8B2AE-97A5-2589-5648-840989932FDC}"/>
              </a:ext>
            </a:extLst>
          </p:cNvPr>
          <p:cNvSpPr txBox="1"/>
          <p:nvPr/>
        </p:nvSpPr>
        <p:spPr>
          <a:xfrm>
            <a:off x="566928" y="2001759"/>
            <a:ext cx="3367910" cy="246093"/>
          </a:xfrm>
          <a:prstGeom prst="rect">
            <a:avLst/>
          </a:prstGeom>
          <a:noFill/>
        </p:spPr>
        <p:txBody>
          <a:bodyPr wrap="none" lIns="0" tIns="0" rIns="0" bIns="0" anchor="t">
            <a:spAutoFit/>
          </a:bodyPr>
          <a:lstStyle/>
          <a:p>
            <a:pPr algn="l">
              <a:lnSpc>
                <a:spcPts val="1979"/>
              </a:lnSpc>
            </a:pPr>
            <a:r>
              <a:rPr sz="1650" b="1" i="0" u="none">
                <a:solidFill>
                  <a:srgbClr val="38BDF8"/>
                </a:solidFill>
                <a:latin typeface="IBM Plex Sans" panose="020B0503050203000203" pitchFamily="34" charset="0"/>
              </a:rPr>
              <a:t>Bangalore Institute of Technology</a:t>
            </a:r>
          </a:p>
        </p:txBody>
      </p:sp>
      <p:sp>
        <p:nvSpPr>
          <p:cNvPr id="50" name="TextBox 49">
            <a:extLst>
              <a:ext uri="{FF2B5EF4-FFF2-40B4-BE49-F238E27FC236}">
                <a16:creationId xmlns:a16="http://schemas.microsoft.com/office/drawing/2014/main" id="{3F86F216-3BED-63FD-1F7E-8CF232878DD8}"/>
              </a:ext>
            </a:extLst>
          </p:cNvPr>
          <p:cNvSpPr txBox="1"/>
          <p:nvPr/>
        </p:nvSpPr>
        <p:spPr>
          <a:xfrm>
            <a:off x="566928" y="2281704"/>
            <a:ext cx="5105565" cy="168829"/>
          </a:xfrm>
          <a:prstGeom prst="rect">
            <a:avLst/>
          </a:prstGeom>
          <a:noFill/>
        </p:spPr>
        <p:txBody>
          <a:bodyPr wrap="none" lIns="0" tIns="0" rIns="0" bIns="0" anchor="t">
            <a:spAutoFit/>
          </a:bodyPr>
          <a:lstStyle/>
          <a:p>
            <a:pPr algn="l">
              <a:lnSpc>
                <a:spcPts val="1364"/>
              </a:lnSpc>
            </a:pPr>
            <a:r>
              <a:rPr sz="1050" b="0" i="0" u="none">
                <a:solidFill>
                  <a:srgbClr val="94A3B8"/>
                </a:solidFill>
                <a:latin typeface="IBM Plex Sans" panose="020B0503050203000203" pitchFamily="34" charset="0"/>
              </a:rPr>
              <a:t>(An Autonomous Institution under VTU, Belagavi &amp; Recognized by AICTE, New Delhi)</a:t>
            </a:r>
          </a:p>
        </p:txBody>
      </p:sp>
      <p:sp>
        <p:nvSpPr>
          <p:cNvPr id="52" name="TextBox 51">
            <a:extLst>
              <a:ext uri="{FF2B5EF4-FFF2-40B4-BE49-F238E27FC236}">
                <a16:creationId xmlns:a16="http://schemas.microsoft.com/office/drawing/2014/main" id="{EAD51BF2-0D60-D68D-0553-C2767B704541}"/>
              </a:ext>
            </a:extLst>
          </p:cNvPr>
          <p:cNvSpPr txBox="1"/>
          <p:nvPr/>
        </p:nvSpPr>
        <p:spPr>
          <a:xfrm>
            <a:off x="566928" y="2502565"/>
            <a:ext cx="1505220" cy="196208"/>
          </a:xfrm>
          <a:prstGeom prst="rect">
            <a:avLst/>
          </a:prstGeom>
          <a:noFill/>
        </p:spPr>
        <p:txBody>
          <a:bodyPr wrap="none" lIns="0" tIns="0" rIns="0" bIns="0" anchor="t">
            <a:spAutoFit/>
          </a:bodyPr>
          <a:lstStyle/>
          <a:p>
            <a:pPr algn="l"/>
            <a:r>
              <a:rPr sz="1275" b="1" i="0" u="none">
                <a:solidFill>
                  <a:srgbClr val="2DD4BF"/>
                </a:solidFill>
                <a:latin typeface="IBM Plex Sans" panose="020B0503050203000203" pitchFamily="34" charset="0"/>
              </a:rPr>
              <a:t>Department of MCA</a:t>
            </a:r>
          </a:p>
        </p:txBody>
      </p:sp>
      <p:pic>
        <p:nvPicPr>
          <p:cNvPr id="54" name="Picture 53" descr="Bangalore Institute of Technology - Wikipedia">
            <a:extLst>
              <a:ext uri="{FF2B5EF4-FFF2-40B4-BE49-F238E27FC236}">
                <a16:creationId xmlns:a16="http://schemas.microsoft.com/office/drawing/2014/main" id="{B1F262EA-C20F-643E-64BB-65D5AD961FCB}"/>
              </a:ext>
            </a:extLst>
          </p:cNvPr>
          <p:cNvPicPr>
            <a:picLocks noChangeAspect="1"/>
          </p:cNvPicPr>
          <p:nvPr/>
        </p:nvPicPr>
        <p:blipFill>
          <a:blip r:embed="rId2"/>
          <a:stretch>
            <a:fillRect/>
          </a:stretch>
        </p:blipFill>
        <p:spPr>
          <a:xfrm>
            <a:off x="502920" y="721853"/>
            <a:ext cx="989478" cy="1144496"/>
          </a:xfrm>
          <a:prstGeom prst="rect">
            <a:avLst/>
          </a:prstGeom>
        </p:spPr>
      </p:pic>
    </p:spTree>
    <p:extLst>
      <p:ext uri="{BB962C8B-B14F-4D97-AF65-F5344CB8AC3E}">
        <p14:creationId xmlns:p14="http://schemas.microsoft.com/office/powerpoint/2010/main" val="3756539157"/>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2103120" cy="201168"/>
          </a:xfrm>
          <a:prstGeom prst="rect">
            <a:avLst/>
          </a:prstGeom>
          <a:noFill/>
        </p:spPr>
        <p:txBody>
          <a:bodyPr wrap="square" lIns="45720" rIns="45720" anchor="t">
            <a:spAutoFit/>
          </a:bodyPr>
          <a:lstStyle/>
          <a:p>
            <a:pPr algn="l"/>
            <a:r>
              <a:rPr sz="1000" b="0" i="0">
                <a:solidFill>
                  <a:srgbClr val="8B949E"/>
                </a:solidFill>
                <a:latin typeface="IBM Plex Mono"/>
              </a:rPr>
              <a:t>DATAPILOT AI  /  02</a:t>
            </a:r>
          </a:p>
        </p:txBody>
      </p:sp>
      <p:sp>
        <p:nvSpPr>
          <p:cNvPr id="6" name="Rectangle 5"/>
          <p:cNvSpPr/>
          <p:nvPr/>
        </p:nvSpPr>
        <p:spPr>
          <a:xfrm>
            <a:off x="502920" y="585216"/>
            <a:ext cx="11183112" cy="9144"/>
          </a:xfrm>
          <a:prstGeom prst="rect">
            <a:avLst/>
          </a:prstGeom>
          <a:solidFill>
            <a:srgbClr val="303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786384"/>
            <a:ext cx="7955279" cy="475488"/>
          </a:xfrm>
          <a:prstGeom prst="rect">
            <a:avLst/>
          </a:prstGeom>
          <a:noFill/>
        </p:spPr>
        <p:txBody>
          <a:bodyPr wrap="square" lIns="45720" rIns="45720" anchor="t">
            <a:spAutoFit/>
          </a:bodyPr>
          <a:lstStyle/>
          <a:p>
            <a:pPr algn="l"/>
            <a:r>
              <a:rPr sz="3000" b="1" i="0">
                <a:solidFill>
                  <a:srgbClr val="E6EDF3"/>
                </a:solidFill>
                <a:latin typeface="IBM Plex Sans"/>
              </a:rPr>
              <a:t>Problem statement</a:t>
            </a:r>
          </a:p>
        </p:txBody>
      </p:sp>
      <p:sp>
        <p:nvSpPr>
          <p:cNvPr id="8" name="TextBox 7"/>
          <p:cNvSpPr txBox="1"/>
          <p:nvPr/>
        </p:nvSpPr>
        <p:spPr>
          <a:xfrm>
            <a:off x="585216" y="1298448"/>
            <a:ext cx="7955279" cy="347472"/>
          </a:xfrm>
          <a:prstGeom prst="rect">
            <a:avLst/>
          </a:prstGeom>
          <a:noFill/>
        </p:spPr>
        <p:txBody>
          <a:bodyPr wrap="square" lIns="45720" rIns="45720" anchor="t">
            <a:spAutoFit/>
          </a:bodyPr>
          <a:lstStyle/>
          <a:p>
            <a:pPr algn="l"/>
            <a:r>
              <a:rPr sz="1300" b="0" i="0">
                <a:solidFill>
                  <a:srgbClr val="8B949E"/>
                </a:solidFill>
                <a:latin typeface="IBM Plex Sans"/>
              </a:rPr>
              <a:t>The current path from raw data to action is fragmented.</a:t>
            </a:r>
          </a:p>
        </p:txBody>
      </p:sp>
      <p:sp>
        <p:nvSpPr>
          <p:cNvPr id="9" name="Rounded Rectangle 8"/>
          <p:cNvSpPr/>
          <p:nvPr/>
        </p:nvSpPr>
        <p:spPr>
          <a:xfrm>
            <a:off x="658368" y="1874519"/>
            <a:ext cx="2743200" cy="1051560"/>
          </a:xfrm>
          <a:prstGeom prst="roundRect">
            <a:avLst/>
          </a:prstGeom>
          <a:solidFill>
            <a:srgbClr val="161B22"/>
          </a:solidFill>
          <a:ln w="1016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59" y="1984248"/>
            <a:ext cx="2414016" cy="182880"/>
          </a:xfrm>
          <a:prstGeom prst="rect">
            <a:avLst/>
          </a:prstGeom>
          <a:noFill/>
        </p:spPr>
        <p:txBody>
          <a:bodyPr wrap="square" lIns="45720" rIns="45720" anchor="t">
            <a:spAutoFit/>
          </a:bodyPr>
          <a:lstStyle/>
          <a:p>
            <a:pPr algn="l"/>
            <a:r>
              <a:rPr sz="900" b="1" i="0">
                <a:solidFill>
                  <a:srgbClr val="8B949E"/>
                </a:solidFill>
                <a:latin typeface="IBM Plex Mono"/>
              </a:rPr>
              <a:t>TRANSACTIONAL SYSTEMS</a:t>
            </a:r>
          </a:p>
        </p:txBody>
      </p:sp>
      <p:sp>
        <p:nvSpPr>
          <p:cNvPr id="11" name="TextBox 10"/>
          <p:cNvSpPr txBox="1"/>
          <p:nvPr/>
        </p:nvSpPr>
        <p:spPr>
          <a:xfrm>
            <a:off x="868680" y="2276856"/>
            <a:ext cx="2194560" cy="256032"/>
          </a:xfrm>
          <a:prstGeom prst="rect">
            <a:avLst/>
          </a:prstGeom>
          <a:noFill/>
        </p:spPr>
        <p:txBody>
          <a:bodyPr wrap="square" lIns="45720" rIns="45720" anchor="t">
            <a:spAutoFit/>
          </a:bodyPr>
          <a:lstStyle/>
          <a:p>
            <a:pPr algn="l"/>
            <a:r>
              <a:rPr sz="1500" b="1" i="0" dirty="0">
                <a:solidFill>
                  <a:srgbClr val="E6EDF3"/>
                </a:solidFill>
                <a:latin typeface="IBM Plex Sans"/>
              </a:rPr>
              <a:t>Raw operational data</a:t>
            </a:r>
          </a:p>
        </p:txBody>
      </p:sp>
      <p:sp>
        <p:nvSpPr>
          <p:cNvPr id="12" name="Rounded Rectangle 11"/>
          <p:cNvSpPr/>
          <p:nvPr/>
        </p:nvSpPr>
        <p:spPr>
          <a:xfrm>
            <a:off x="3749039" y="1874519"/>
            <a:ext cx="2743200" cy="1051560"/>
          </a:xfrm>
          <a:prstGeom prst="roundRect">
            <a:avLst/>
          </a:prstGeom>
          <a:solidFill>
            <a:srgbClr val="161B22"/>
          </a:solidFill>
          <a:ln w="1016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913631" y="1984248"/>
            <a:ext cx="2414016" cy="182880"/>
          </a:xfrm>
          <a:prstGeom prst="rect">
            <a:avLst/>
          </a:prstGeom>
          <a:noFill/>
        </p:spPr>
        <p:txBody>
          <a:bodyPr wrap="square" lIns="45720" rIns="45720" anchor="t">
            <a:spAutoFit/>
          </a:bodyPr>
          <a:lstStyle/>
          <a:p>
            <a:pPr algn="l"/>
            <a:r>
              <a:rPr sz="900" b="1" i="0">
                <a:solidFill>
                  <a:srgbClr val="8B949E"/>
                </a:solidFill>
                <a:latin typeface="IBM Plex Mono"/>
              </a:rPr>
              <a:t>ANALYTICAL WAREHOUSES</a:t>
            </a:r>
          </a:p>
        </p:txBody>
      </p:sp>
      <p:sp>
        <p:nvSpPr>
          <p:cNvPr id="14" name="TextBox 13"/>
          <p:cNvSpPr txBox="1"/>
          <p:nvPr/>
        </p:nvSpPr>
        <p:spPr>
          <a:xfrm>
            <a:off x="3959352" y="2221992"/>
            <a:ext cx="2194560" cy="256032"/>
          </a:xfrm>
          <a:prstGeom prst="rect">
            <a:avLst/>
          </a:prstGeom>
          <a:noFill/>
        </p:spPr>
        <p:txBody>
          <a:bodyPr wrap="square" lIns="45720" rIns="45720" anchor="t">
            <a:spAutoFit/>
          </a:bodyPr>
          <a:lstStyle/>
          <a:p>
            <a:pPr algn="l"/>
            <a:r>
              <a:rPr sz="1500" b="1" i="0" dirty="0">
                <a:solidFill>
                  <a:srgbClr val="E6EDF3"/>
                </a:solidFill>
                <a:latin typeface="IBM Plex Sans"/>
              </a:rPr>
              <a:t>Aggregation + reporting</a:t>
            </a:r>
          </a:p>
        </p:txBody>
      </p:sp>
      <p:sp>
        <p:nvSpPr>
          <p:cNvPr id="15" name="Rounded Rectangle 14"/>
          <p:cNvSpPr/>
          <p:nvPr/>
        </p:nvSpPr>
        <p:spPr>
          <a:xfrm>
            <a:off x="6839712" y="1874519"/>
            <a:ext cx="2743200" cy="1051560"/>
          </a:xfrm>
          <a:prstGeom prst="roundRect">
            <a:avLst/>
          </a:prstGeom>
          <a:solidFill>
            <a:srgbClr val="161B22"/>
          </a:solidFill>
          <a:ln w="1016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004304" y="1984248"/>
            <a:ext cx="2414016" cy="182880"/>
          </a:xfrm>
          <a:prstGeom prst="rect">
            <a:avLst/>
          </a:prstGeom>
          <a:noFill/>
        </p:spPr>
        <p:txBody>
          <a:bodyPr wrap="square" lIns="45720" rIns="45720" anchor="t">
            <a:spAutoFit/>
          </a:bodyPr>
          <a:lstStyle/>
          <a:p>
            <a:pPr algn="l"/>
            <a:r>
              <a:rPr sz="900" b="1" i="0">
                <a:solidFill>
                  <a:srgbClr val="8B949E"/>
                </a:solidFill>
                <a:latin typeface="IBM Plex Mono"/>
              </a:rPr>
              <a:t>ML ENVIRONMENTS</a:t>
            </a:r>
          </a:p>
        </p:txBody>
      </p:sp>
      <p:sp>
        <p:nvSpPr>
          <p:cNvPr id="17" name="TextBox 16"/>
          <p:cNvSpPr txBox="1"/>
          <p:nvPr/>
        </p:nvSpPr>
        <p:spPr>
          <a:xfrm>
            <a:off x="7004304" y="2221992"/>
            <a:ext cx="2194560" cy="256032"/>
          </a:xfrm>
          <a:prstGeom prst="rect">
            <a:avLst/>
          </a:prstGeom>
          <a:noFill/>
        </p:spPr>
        <p:txBody>
          <a:bodyPr wrap="square" lIns="45720" rIns="45720" anchor="t">
            <a:spAutoFit/>
          </a:bodyPr>
          <a:lstStyle/>
          <a:p>
            <a:pPr algn="l"/>
            <a:r>
              <a:rPr sz="1500" b="1" i="0" dirty="0">
                <a:solidFill>
                  <a:srgbClr val="E6EDF3"/>
                </a:solidFill>
                <a:latin typeface="IBM Plex Sans"/>
              </a:rPr>
              <a:t>Models + experimentation</a:t>
            </a:r>
          </a:p>
        </p:txBody>
      </p:sp>
      <p:cxnSp>
        <p:nvCxnSpPr>
          <p:cNvPr id="18" name="Connector 17"/>
          <p:cNvCxnSpPr/>
          <p:nvPr/>
        </p:nvCxnSpPr>
        <p:spPr>
          <a:xfrm>
            <a:off x="3401568" y="2395728"/>
            <a:ext cx="329184" cy="0"/>
          </a:xfrm>
          <a:prstGeom prst="line">
            <a:avLst/>
          </a:prstGeom>
          <a:ln w="12700">
            <a:solidFill>
              <a:srgbClr val="8B949E"/>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492240" y="2395728"/>
            <a:ext cx="329184" cy="0"/>
          </a:xfrm>
          <a:prstGeom prst="line">
            <a:avLst/>
          </a:prstGeom>
          <a:ln w="12700">
            <a:solidFill>
              <a:srgbClr val="8B949E"/>
            </a:solidFill>
            <a:prstDash val="dash"/>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930384" y="1874519"/>
            <a:ext cx="1554480" cy="1051560"/>
          </a:xfrm>
          <a:prstGeom prst="roundRect">
            <a:avLst/>
          </a:prstGeom>
          <a:solidFill>
            <a:srgbClr val="161B22"/>
          </a:solidFill>
          <a:ln w="1016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094976" y="1984248"/>
            <a:ext cx="1225295" cy="182880"/>
          </a:xfrm>
          <a:prstGeom prst="rect">
            <a:avLst/>
          </a:prstGeom>
          <a:noFill/>
        </p:spPr>
        <p:txBody>
          <a:bodyPr wrap="square" lIns="45720" rIns="45720" anchor="t">
            <a:spAutoFit/>
          </a:bodyPr>
          <a:lstStyle/>
          <a:p>
            <a:pPr algn="l"/>
            <a:r>
              <a:rPr sz="900" b="1" i="0">
                <a:solidFill>
                  <a:srgbClr val="8B5CF6"/>
                </a:solidFill>
                <a:latin typeface="IBM Plex Mono"/>
              </a:rPr>
              <a:t>EXPLAINABILITY</a:t>
            </a:r>
          </a:p>
        </p:txBody>
      </p:sp>
      <p:sp>
        <p:nvSpPr>
          <p:cNvPr id="22" name="TextBox 21"/>
          <p:cNvSpPr txBox="1"/>
          <p:nvPr/>
        </p:nvSpPr>
        <p:spPr>
          <a:xfrm>
            <a:off x="10094976" y="2249424"/>
            <a:ext cx="1097280" cy="256032"/>
          </a:xfrm>
          <a:prstGeom prst="rect">
            <a:avLst/>
          </a:prstGeom>
          <a:noFill/>
        </p:spPr>
        <p:txBody>
          <a:bodyPr wrap="square" lIns="45720" rIns="45720" anchor="t">
            <a:spAutoFit/>
          </a:bodyPr>
          <a:lstStyle/>
          <a:p>
            <a:pPr algn="l"/>
            <a:r>
              <a:rPr sz="1500" b="1" i="0">
                <a:solidFill>
                  <a:srgbClr val="E6EDF3"/>
                </a:solidFill>
                <a:latin typeface="IBM Plex Sans"/>
              </a:rPr>
              <a:t>Verify</a:t>
            </a:r>
          </a:p>
        </p:txBody>
      </p:sp>
      <p:sp>
        <p:nvSpPr>
          <p:cNvPr id="23" name="TextBox 22"/>
          <p:cNvSpPr txBox="1"/>
          <p:nvPr/>
        </p:nvSpPr>
        <p:spPr>
          <a:xfrm>
            <a:off x="658368" y="3401568"/>
            <a:ext cx="3291840" cy="182880"/>
          </a:xfrm>
          <a:prstGeom prst="rect">
            <a:avLst/>
          </a:prstGeom>
          <a:noFill/>
        </p:spPr>
        <p:txBody>
          <a:bodyPr wrap="square" lIns="45720" rIns="45720" anchor="t">
            <a:spAutoFit/>
          </a:bodyPr>
          <a:lstStyle/>
          <a:p>
            <a:pPr algn="l"/>
            <a:r>
              <a:rPr sz="1000" b="1" i="0">
                <a:solidFill>
                  <a:srgbClr val="2DD4BF"/>
                </a:solidFill>
                <a:latin typeface="IBM Plex Mono"/>
              </a:rPr>
              <a:t>FRAGMENTED TOPOLOGY</a:t>
            </a:r>
          </a:p>
        </p:txBody>
      </p:sp>
      <p:sp>
        <p:nvSpPr>
          <p:cNvPr id="24" name="Oval 23"/>
          <p:cNvSpPr/>
          <p:nvPr/>
        </p:nvSpPr>
        <p:spPr>
          <a:xfrm>
            <a:off x="685800" y="3758184"/>
            <a:ext cx="64008" cy="64008"/>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50392" y="3657600"/>
            <a:ext cx="10533888" cy="420624"/>
          </a:xfrm>
          <a:prstGeom prst="rect">
            <a:avLst/>
          </a:prstGeom>
          <a:noFill/>
        </p:spPr>
        <p:txBody>
          <a:bodyPr wrap="square" lIns="45720" rIns="45720" anchor="t">
            <a:spAutoFit/>
          </a:bodyPr>
          <a:lstStyle/>
          <a:p>
            <a:pPr algn="l"/>
            <a:r>
              <a:rPr sz="1350" b="0" i="0">
                <a:solidFill>
                  <a:srgbClr val="E6EDF3"/>
                </a:solidFill>
                <a:latin typeface="IBM Plex Sans"/>
              </a:rPr>
              <a:t>Transactional systems, analytical warehouses, and ML environments remain isolated from each other.</a:t>
            </a:r>
          </a:p>
        </p:txBody>
      </p:sp>
      <p:sp>
        <p:nvSpPr>
          <p:cNvPr id="26" name="Oval 25"/>
          <p:cNvSpPr/>
          <p:nvPr/>
        </p:nvSpPr>
        <p:spPr>
          <a:xfrm>
            <a:off x="685800" y="4215384"/>
            <a:ext cx="64008" cy="64008"/>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50392" y="4114800"/>
            <a:ext cx="10533888" cy="420624"/>
          </a:xfrm>
          <a:prstGeom prst="rect">
            <a:avLst/>
          </a:prstGeom>
          <a:noFill/>
        </p:spPr>
        <p:txBody>
          <a:bodyPr wrap="square" lIns="45720" rIns="45720" anchor="t">
            <a:spAutoFit/>
          </a:bodyPr>
          <a:lstStyle/>
          <a:p>
            <a:pPr algn="l"/>
            <a:r>
              <a:rPr sz="1350" b="0" i="0">
                <a:solidFill>
                  <a:srgbClr val="E6EDF3"/>
                </a:solidFill>
                <a:latin typeface="IBM Plex Sans"/>
              </a:rPr>
              <a:t>Getting from raw data to an actionable insight needs manual orchestration across all three layers.</a:t>
            </a:r>
          </a:p>
        </p:txBody>
      </p:sp>
      <p:sp>
        <p:nvSpPr>
          <p:cNvPr id="28" name="Oval 27"/>
          <p:cNvSpPr/>
          <p:nvPr/>
        </p:nvSpPr>
        <p:spPr>
          <a:xfrm>
            <a:off x="685800" y="4672584"/>
            <a:ext cx="64008" cy="64008"/>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50392" y="4572000"/>
            <a:ext cx="10533888" cy="420624"/>
          </a:xfrm>
          <a:prstGeom prst="rect">
            <a:avLst/>
          </a:prstGeom>
          <a:noFill/>
        </p:spPr>
        <p:txBody>
          <a:bodyPr wrap="square" lIns="45720" rIns="45720" anchor="t">
            <a:spAutoFit/>
          </a:bodyPr>
          <a:lstStyle/>
          <a:p>
            <a:pPr algn="l"/>
            <a:r>
              <a:rPr sz="1350" b="0" i="0">
                <a:solidFill>
                  <a:srgbClr val="E6EDF3"/>
                </a:solidFill>
                <a:latin typeface="IBM Plex Sans"/>
              </a:rPr>
              <a:t>Plugging a language model straight into your data raises exposure risk and gives no way to verify what it did.</a:t>
            </a:r>
          </a:p>
        </p:txBody>
      </p:sp>
      <p:sp>
        <p:nvSpPr>
          <p:cNvPr id="30" name="Oval 29"/>
          <p:cNvSpPr/>
          <p:nvPr/>
        </p:nvSpPr>
        <p:spPr>
          <a:xfrm>
            <a:off x="685800" y="5129784"/>
            <a:ext cx="64008" cy="64008"/>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50392" y="5029200"/>
            <a:ext cx="10533888" cy="420624"/>
          </a:xfrm>
          <a:prstGeom prst="rect">
            <a:avLst/>
          </a:prstGeom>
          <a:noFill/>
        </p:spPr>
        <p:txBody>
          <a:bodyPr wrap="square" lIns="45720" rIns="45720" anchor="t">
            <a:spAutoFit/>
          </a:bodyPr>
          <a:lstStyle/>
          <a:p>
            <a:pPr algn="l"/>
            <a:r>
              <a:rPr sz="1350" b="0" i="0">
                <a:solidFill>
                  <a:srgbClr val="E6EDF3"/>
                </a:solidFill>
                <a:latin typeface="IBM Plex Sans"/>
              </a:rPr>
              <a:t>No existing framework offers one secure interface that turns a plain-language question into safe, multi-database execution with an explainable answer.</a:t>
            </a:r>
          </a:p>
        </p:txBody>
      </p:sp>
      <p:sp>
        <p:nvSpPr>
          <p:cNvPr id="32" name="TextBox 31"/>
          <p:cNvSpPr txBox="1"/>
          <p:nvPr/>
        </p:nvSpPr>
        <p:spPr>
          <a:xfrm>
            <a:off x="566928" y="6519672"/>
            <a:ext cx="5852160" cy="164592"/>
          </a:xfrm>
          <a:prstGeom prst="rect">
            <a:avLst/>
          </a:prstGeom>
          <a:noFill/>
        </p:spPr>
        <p:txBody>
          <a:bodyPr wrap="square" lIns="45720" rIns="45720" anchor="t">
            <a:spAutoFit/>
          </a:bodyPr>
          <a:lstStyle/>
          <a:p>
            <a:pPr algn="l"/>
            <a:r>
              <a:rPr sz="900" b="0" i="0">
                <a:solidFill>
                  <a:srgbClr val="8B949E"/>
                </a:solidFill>
                <a:latin typeface="IBM Plex Mono"/>
              </a:rPr>
              <a:t>DATA PILOT AI  /  DECISION INTELLIGENCE</a:t>
            </a:r>
          </a:p>
        </p:txBody>
      </p:sp>
      <p:sp>
        <p:nvSpPr>
          <p:cNvPr id="33" name="TextBox 32"/>
          <p:cNvSpPr txBox="1"/>
          <p:nvPr/>
        </p:nvSpPr>
        <p:spPr>
          <a:xfrm>
            <a:off x="11201400" y="6501384"/>
            <a:ext cx="228600" cy="182880"/>
          </a:xfrm>
          <a:prstGeom prst="rect">
            <a:avLst/>
          </a:prstGeom>
          <a:noFill/>
        </p:spPr>
        <p:txBody>
          <a:bodyPr wrap="square" lIns="45720" rIns="45720" anchor="t">
            <a:spAutoFit/>
          </a:bodyPr>
          <a:lstStyle/>
          <a:p>
            <a:r>
              <a:rPr sz="900"/>
              <a:t>→</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2103120" cy="201168"/>
          </a:xfrm>
          <a:prstGeom prst="rect">
            <a:avLst/>
          </a:prstGeom>
          <a:noFill/>
        </p:spPr>
        <p:txBody>
          <a:bodyPr wrap="square" lIns="45720" rIns="45720" anchor="t">
            <a:spAutoFit/>
          </a:bodyPr>
          <a:lstStyle/>
          <a:p>
            <a:pPr algn="l"/>
            <a:r>
              <a:rPr sz="1000" b="0" i="0">
                <a:solidFill>
                  <a:srgbClr val="8B949E"/>
                </a:solidFill>
                <a:latin typeface="IBM Plex Mono"/>
              </a:rPr>
              <a:t>DATAPILOT AI  /  03</a:t>
            </a:r>
          </a:p>
        </p:txBody>
      </p:sp>
      <p:sp>
        <p:nvSpPr>
          <p:cNvPr id="6" name="Rectangle 5"/>
          <p:cNvSpPr/>
          <p:nvPr/>
        </p:nvSpPr>
        <p:spPr>
          <a:xfrm>
            <a:off x="502920" y="585216"/>
            <a:ext cx="11183112" cy="9144"/>
          </a:xfrm>
          <a:prstGeom prst="rect">
            <a:avLst/>
          </a:prstGeom>
          <a:solidFill>
            <a:srgbClr val="303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786384"/>
            <a:ext cx="7955279" cy="475488"/>
          </a:xfrm>
          <a:prstGeom prst="rect">
            <a:avLst/>
          </a:prstGeom>
          <a:noFill/>
        </p:spPr>
        <p:txBody>
          <a:bodyPr wrap="square" lIns="45720" rIns="45720" anchor="t">
            <a:spAutoFit/>
          </a:bodyPr>
          <a:lstStyle/>
          <a:p>
            <a:pPr algn="l"/>
            <a:r>
              <a:rPr sz="3000" b="1" i="0">
                <a:solidFill>
                  <a:srgbClr val="E6EDF3"/>
                </a:solidFill>
                <a:latin typeface="IBM Plex Sans"/>
              </a:rPr>
              <a:t>Objectives</a:t>
            </a:r>
          </a:p>
        </p:txBody>
      </p:sp>
      <p:sp>
        <p:nvSpPr>
          <p:cNvPr id="8" name="TextBox 7"/>
          <p:cNvSpPr txBox="1"/>
          <p:nvPr/>
        </p:nvSpPr>
        <p:spPr>
          <a:xfrm>
            <a:off x="585216" y="1298448"/>
            <a:ext cx="7955279" cy="347472"/>
          </a:xfrm>
          <a:prstGeom prst="rect">
            <a:avLst/>
          </a:prstGeom>
          <a:noFill/>
        </p:spPr>
        <p:txBody>
          <a:bodyPr wrap="square" lIns="45720" rIns="45720" anchor="t">
            <a:spAutoFit/>
          </a:bodyPr>
          <a:lstStyle/>
          <a:p>
            <a:pPr algn="l"/>
            <a:r>
              <a:rPr sz="1300" b="0" i="0">
                <a:solidFill>
                  <a:srgbClr val="8B949E"/>
                </a:solidFill>
                <a:latin typeface="IBM Plex Sans"/>
              </a:rPr>
              <a:t>Five system objectives, organized around one agentic execution loop.</a:t>
            </a:r>
          </a:p>
        </p:txBody>
      </p:sp>
      <p:sp>
        <p:nvSpPr>
          <p:cNvPr id="23" name="Rounded Rectangle 22"/>
          <p:cNvSpPr/>
          <p:nvPr/>
        </p:nvSpPr>
        <p:spPr>
          <a:xfrm>
            <a:off x="562356" y="1897380"/>
            <a:ext cx="2788920" cy="1051560"/>
          </a:xfrm>
          <a:prstGeom prst="roundRect">
            <a:avLst/>
          </a:prstGeom>
          <a:solidFill>
            <a:srgbClr val="161B22"/>
          </a:solidFill>
          <a:ln w="1016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26948" y="2007108"/>
            <a:ext cx="2459736" cy="230832"/>
          </a:xfrm>
          <a:prstGeom prst="rect">
            <a:avLst/>
          </a:prstGeom>
          <a:noFill/>
        </p:spPr>
        <p:txBody>
          <a:bodyPr wrap="square" lIns="45720" rIns="45720" anchor="t">
            <a:spAutoFit/>
          </a:bodyPr>
          <a:lstStyle/>
          <a:p>
            <a:pPr algn="l"/>
            <a:r>
              <a:rPr sz="900" b="1" i="0">
                <a:solidFill>
                  <a:srgbClr val="2DD4BF"/>
                </a:solidFill>
                <a:latin typeface="IBM Plex Mono"/>
              </a:rPr>
              <a:t>OBJECTIVE 01</a:t>
            </a:r>
          </a:p>
        </p:txBody>
      </p:sp>
      <p:sp>
        <p:nvSpPr>
          <p:cNvPr id="25" name="TextBox 24"/>
          <p:cNvSpPr txBox="1"/>
          <p:nvPr/>
        </p:nvSpPr>
        <p:spPr>
          <a:xfrm>
            <a:off x="745236" y="2281428"/>
            <a:ext cx="2423160" cy="609398"/>
          </a:xfrm>
          <a:prstGeom prst="rect">
            <a:avLst/>
          </a:prstGeom>
          <a:noFill/>
        </p:spPr>
        <p:txBody>
          <a:bodyPr wrap="square" lIns="45720" rIns="45720" anchor="t">
            <a:spAutoFit/>
          </a:bodyPr>
          <a:lstStyle/>
          <a:p>
            <a:pPr algn="l"/>
            <a:r>
              <a:rPr sz="1120" b="0" i="0" dirty="0">
                <a:solidFill>
                  <a:srgbClr val="E6EDF3"/>
                </a:solidFill>
                <a:latin typeface="IBM Plex Sans"/>
              </a:rPr>
              <a:t>Build a secure natural-language-to-query engine on a multi-agent </a:t>
            </a:r>
            <a:r>
              <a:rPr sz="1120" b="0" i="0" dirty="0" err="1">
                <a:solidFill>
                  <a:srgbClr val="E6EDF3"/>
                </a:solidFill>
                <a:latin typeface="IBM Plex Sans"/>
              </a:rPr>
              <a:t>LangGraph</a:t>
            </a:r>
            <a:r>
              <a:rPr sz="1120" b="0" i="0" dirty="0">
                <a:solidFill>
                  <a:srgbClr val="E6EDF3"/>
                </a:solidFill>
                <a:latin typeface="IBM Plex Sans"/>
              </a:rPr>
              <a:t> pipeline.</a:t>
            </a:r>
          </a:p>
        </p:txBody>
      </p:sp>
      <p:sp>
        <p:nvSpPr>
          <p:cNvPr id="26" name="Rounded Rectangle 25"/>
          <p:cNvSpPr/>
          <p:nvPr/>
        </p:nvSpPr>
        <p:spPr>
          <a:xfrm>
            <a:off x="3762756" y="1897380"/>
            <a:ext cx="2788920" cy="1051560"/>
          </a:xfrm>
          <a:prstGeom prst="roundRect">
            <a:avLst/>
          </a:prstGeom>
          <a:solidFill>
            <a:srgbClr val="161B22"/>
          </a:solidFill>
          <a:ln w="1016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927347" y="2007108"/>
            <a:ext cx="2459736" cy="230832"/>
          </a:xfrm>
          <a:prstGeom prst="rect">
            <a:avLst/>
          </a:prstGeom>
          <a:noFill/>
        </p:spPr>
        <p:txBody>
          <a:bodyPr wrap="square" lIns="45720" rIns="45720" anchor="t">
            <a:spAutoFit/>
          </a:bodyPr>
          <a:lstStyle/>
          <a:p>
            <a:pPr algn="l"/>
            <a:r>
              <a:rPr sz="900" b="1" i="0">
                <a:solidFill>
                  <a:srgbClr val="2DD4BF"/>
                </a:solidFill>
                <a:latin typeface="IBM Plex Mono"/>
              </a:rPr>
              <a:t>OBJECTIVE 02</a:t>
            </a:r>
          </a:p>
        </p:txBody>
      </p:sp>
      <p:sp>
        <p:nvSpPr>
          <p:cNvPr id="28" name="TextBox 27"/>
          <p:cNvSpPr txBox="1"/>
          <p:nvPr/>
        </p:nvSpPr>
        <p:spPr>
          <a:xfrm>
            <a:off x="3945636" y="2281428"/>
            <a:ext cx="2423160" cy="553998"/>
          </a:xfrm>
          <a:prstGeom prst="rect">
            <a:avLst/>
          </a:prstGeom>
          <a:noFill/>
        </p:spPr>
        <p:txBody>
          <a:bodyPr wrap="square" lIns="45720" rIns="45720" anchor="t">
            <a:spAutoFit/>
          </a:bodyPr>
          <a:lstStyle/>
          <a:p>
            <a:r>
              <a:rPr sz="1000" dirty="0">
                <a:solidFill>
                  <a:schemeClr val="bg1"/>
                </a:solidFill>
                <a:latin typeface="IBM Plex Sans" panose="020B0503050203000203" pitchFamily="34" charset="0"/>
              </a:rPr>
              <a:t>Structure the pipeline as Planner → Executor → Analyzer, each with an isolated responsibility.</a:t>
            </a:r>
          </a:p>
        </p:txBody>
      </p:sp>
      <p:sp>
        <p:nvSpPr>
          <p:cNvPr id="29" name="Rounded Rectangle 28"/>
          <p:cNvSpPr/>
          <p:nvPr/>
        </p:nvSpPr>
        <p:spPr>
          <a:xfrm>
            <a:off x="6963156" y="1897380"/>
            <a:ext cx="2788920" cy="1051560"/>
          </a:xfrm>
          <a:prstGeom prst="roundRect">
            <a:avLst/>
          </a:prstGeom>
          <a:solidFill>
            <a:srgbClr val="161B22"/>
          </a:solidFill>
          <a:ln w="1016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127748" y="2007108"/>
            <a:ext cx="2459736" cy="230832"/>
          </a:xfrm>
          <a:prstGeom prst="rect">
            <a:avLst/>
          </a:prstGeom>
          <a:noFill/>
        </p:spPr>
        <p:txBody>
          <a:bodyPr wrap="square" lIns="45720" rIns="45720" anchor="t">
            <a:spAutoFit/>
          </a:bodyPr>
          <a:lstStyle/>
          <a:p>
            <a:pPr algn="l"/>
            <a:r>
              <a:rPr sz="900" b="1" i="0">
                <a:solidFill>
                  <a:srgbClr val="2DD4BF"/>
                </a:solidFill>
                <a:latin typeface="IBM Plex Mono"/>
              </a:rPr>
              <a:t>OBJECTIVE 03</a:t>
            </a:r>
          </a:p>
        </p:txBody>
      </p:sp>
      <p:sp>
        <p:nvSpPr>
          <p:cNvPr id="31" name="TextBox 30"/>
          <p:cNvSpPr txBox="1"/>
          <p:nvPr/>
        </p:nvSpPr>
        <p:spPr>
          <a:xfrm>
            <a:off x="7146036" y="2281428"/>
            <a:ext cx="2423160" cy="609398"/>
          </a:xfrm>
          <a:prstGeom prst="rect">
            <a:avLst/>
          </a:prstGeom>
          <a:noFill/>
        </p:spPr>
        <p:txBody>
          <a:bodyPr wrap="square" lIns="45720" rIns="45720" anchor="t">
            <a:spAutoFit/>
          </a:bodyPr>
          <a:lstStyle/>
          <a:p>
            <a:pPr algn="l"/>
            <a:r>
              <a:rPr sz="1120" b="0" i="0">
                <a:solidFill>
                  <a:srgbClr val="E6EDF3"/>
                </a:solidFill>
                <a:latin typeface="IBM Plex Sans"/>
              </a:rPr>
              <a:t>Add a Model Context Protocol (MCP) tool layer that decouples database access from orchestration.</a:t>
            </a:r>
          </a:p>
        </p:txBody>
      </p:sp>
      <p:sp>
        <p:nvSpPr>
          <p:cNvPr id="32" name="Rounded Rectangle 31"/>
          <p:cNvSpPr/>
          <p:nvPr/>
        </p:nvSpPr>
        <p:spPr>
          <a:xfrm>
            <a:off x="562356" y="3406140"/>
            <a:ext cx="2788920" cy="1051560"/>
          </a:xfrm>
          <a:prstGeom prst="roundRect">
            <a:avLst/>
          </a:prstGeom>
          <a:solidFill>
            <a:srgbClr val="161B22"/>
          </a:solidFill>
          <a:ln w="1016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26948" y="3515868"/>
            <a:ext cx="2459736" cy="230832"/>
          </a:xfrm>
          <a:prstGeom prst="rect">
            <a:avLst/>
          </a:prstGeom>
          <a:noFill/>
        </p:spPr>
        <p:txBody>
          <a:bodyPr wrap="square" lIns="45720" rIns="45720" anchor="t">
            <a:spAutoFit/>
          </a:bodyPr>
          <a:lstStyle/>
          <a:p>
            <a:pPr algn="l"/>
            <a:r>
              <a:rPr sz="900" b="1" i="0">
                <a:solidFill>
                  <a:srgbClr val="8B5CF6"/>
                </a:solidFill>
                <a:latin typeface="IBM Plex Mono"/>
              </a:rPr>
              <a:t>OBJECTIVE 04</a:t>
            </a:r>
          </a:p>
        </p:txBody>
      </p:sp>
      <p:sp>
        <p:nvSpPr>
          <p:cNvPr id="34" name="TextBox 33"/>
          <p:cNvSpPr txBox="1"/>
          <p:nvPr/>
        </p:nvSpPr>
        <p:spPr>
          <a:xfrm>
            <a:off x="745236" y="3790188"/>
            <a:ext cx="2423160" cy="437043"/>
          </a:xfrm>
          <a:prstGeom prst="rect">
            <a:avLst/>
          </a:prstGeom>
          <a:noFill/>
        </p:spPr>
        <p:txBody>
          <a:bodyPr wrap="square" lIns="45720" rIns="45720" anchor="t">
            <a:spAutoFit/>
          </a:bodyPr>
          <a:lstStyle/>
          <a:p>
            <a:pPr algn="l"/>
            <a:r>
              <a:rPr sz="1120" b="0" i="0">
                <a:solidFill>
                  <a:srgbClr val="E6EDF3"/>
                </a:solidFill>
                <a:latin typeface="IBM Plex Sans"/>
              </a:rPr>
              <a:t>Deliver an interactive dashboard for real-time visualization of results.</a:t>
            </a:r>
          </a:p>
        </p:txBody>
      </p:sp>
      <p:sp>
        <p:nvSpPr>
          <p:cNvPr id="35" name="Rounded Rectangle 34"/>
          <p:cNvSpPr/>
          <p:nvPr/>
        </p:nvSpPr>
        <p:spPr>
          <a:xfrm>
            <a:off x="3762756" y="3406140"/>
            <a:ext cx="2788920" cy="1051560"/>
          </a:xfrm>
          <a:prstGeom prst="roundRect">
            <a:avLst/>
          </a:prstGeom>
          <a:solidFill>
            <a:srgbClr val="161B22"/>
          </a:solidFill>
          <a:ln w="1016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927347" y="3515868"/>
            <a:ext cx="2459736" cy="230832"/>
          </a:xfrm>
          <a:prstGeom prst="rect">
            <a:avLst/>
          </a:prstGeom>
          <a:noFill/>
        </p:spPr>
        <p:txBody>
          <a:bodyPr wrap="square" lIns="45720" rIns="45720" anchor="t">
            <a:spAutoFit/>
          </a:bodyPr>
          <a:lstStyle/>
          <a:p>
            <a:pPr algn="l"/>
            <a:r>
              <a:rPr sz="900" b="1" i="0">
                <a:solidFill>
                  <a:srgbClr val="8B5CF6"/>
                </a:solidFill>
                <a:latin typeface="IBM Plex Mono"/>
              </a:rPr>
              <a:t>OBJECTIVE 05</a:t>
            </a:r>
          </a:p>
        </p:txBody>
      </p:sp>
      <p:sp>
        <p:nvSpPr>
          <p:cNvPr id="37" name="TextBox 36"/>
          <p:cNvSpPr txBox="1"/>
          <p:nvPr/>
        </p:nvSpPr>
        <p:spPr>
          <a:xfrm>
            <a:off x="3945636" y="3790188"/>
            <a:ext cx="2423160" cy="609398"/>
          </a:xfrm>
          <a:prstGeom prst="rect">
            <a:avLst/>
          </a:prstGeom>
          <a:noFill/>
        </p:spPr>
        <p:txBody>
          <a:bodyPr wrap="square" lIns="45720" rIns="45720" anchor="t">
            <a:spAutoFit/>
          </a:bodyPr>
          <a:lstStyle/>
          <a:p>
            <a:pPr algn="l"/>
            <a:r>
              <a:rPr sz="1120" b="0" i="0">
                <a:solidFill>
                  <a:srgbClr val="E6EDF3"/>
                </a:solidFill>
                <a:latin typeface="IBM Plex Sans"/>
              </a:rPr>
              <a:t>Wire in workflow automation and monitoring for alerting and observability.</a:t>
            </a:r>
          </a:p>
        </p:txBody>
      </p:sp>
      <p:sp>
        <p:nvSpPr>
          <p:cNvPr id="38" name="TextBox 37"/>
          <p:cNvSpPr txBox="1"/>
          <p:nvPr/>
        </p:nvSpPr>
        <p:spPr>
          <a:xfrm>
            <a:off x="566928" y="6519672"/>
            <a:ext cx="5852160" cy="164592"/>
          </a:xfrm>
          <a:prstGeom prst="rect">
            <a:avLst/>
          </a:prstGeom>
          <a:noFill/>
        </p:spPr>
        <p:txBody>
          <a:bodyPr wrap="square" lIns="45720" rIns="45720" anchor="t">
            <a:spAutoFit/>
          </a:bodyPr>
          <a:lstStyle/>
          <a:p>
            <a:pPr algn="l"/>
            <a:r>
              <a:rPr sz="900" b="0" i="0">
                <a:solidFill>
                  <a:srgbClr val="8B949E"/>
                </a:solidFill>
                <a:latin typeface="IBM Plex Mono"/>
              </a:rPr>
              <a:t>DATA PILOT AI  /  DECISION INTELLIGENCE</a:t>
            </a:r>
          </a:p>
        </p:txBody>
      </p:sp>
      <p:sp>
        <p:nvSpPr>
          <p:cNvPr id="39" name="TextBox 38"/>
          <p:cNvSpPr txBox="1"/>
          <p:nvPr/>
        </p:nvSpPr>
        <p:spPr>
          <a:xfrm>
            <a:off x="11201400" y="6501384"/>
            <a:ext cx="228600" cy="182880"/>
          </a:xfrm>
          <a:prstGeom prst="rect">
            <a:avLst/>
          </a:prstGeom>
          <a:noFill/>
        </p:spPr>
        <p:txBody>
          <a:bodyPr wrap="square" lIns="45720" rIns="45720" anchor="t">
            <a:spAutoFit/>
          </a:bodyPr>
          <a:lstStyle/>
          <a:p>
            <a:r>
              <a:rPr sz="90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2103120" cy="201168"/>
          </a:xfrm>
          <a:prstGeom prst="rect">
            <a:avLst/>
          </a:prstGeom>
          <a:noFill/>
        </p:spPr>
        <p:txBody>
          <a:bodyPr wrap="square" lIns="45720" rIns="45720" anchor="t">
            <a:spAutoFit/>
          </a:bodyPr>
          <a:lstStyle/>
          <a:p>
            <a:pPr algn="l"/>
            <a:r>
              <a:rPr sz="1000" b="0" i="0">
                <a:solidFill>
                  <a:srgbClr val="8B949E"/>
                </a:solidFill>
                <a:latin typeface="IBM Plex Mono"/>
              </a:rPr>
              <a:t>DATAPILOT AI  /  04</a:t>
            </a:r>
          </a:p>
        </p:txBody>
      </p:sp>
      <p:sp>
        <p:nvSpPr>
          <p:cNvPr id="6" name="Rectangle 5"/>
          <p:cNvSpPr/>
          <p:nvPr/>
        </p:nvSpPr>
        <p:spPr>
          <a:xfrm>
            <a:off x="502920" y="585216"/>
            <a:ext cx="11183112" cy="9144"/>
          </a:xfrm>
          <a:prstGeom prst="rect">
            <a:avLst/>
          </a:prstGeom>
          <a:solidFill>
            <a:srgbClr val="303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786384"/>
            <a:ext cx="7955279" cy="475488"/>
          </a:xfrm>
          <a:prstGeom prst="rect">
            <a:avLst/>
          </a:prstGeom>
          <a:noFill/>
        </p:spPr>
        <p:txBody>
          <a:bodyPr wrap="square" lIns="45720" rIns="45720" anchor="t">
            <a:spAutoFit/>
          </a:bodyPr>
          <a:lstStyle/>
          <a:p>
            <a:pPr algn="l"/>
            <a:r>
              <a:rPr sz="3000" b="1" i="0">
                <a:solidFill>
                  <a:srgbClr val="E6EDF3"/>
                </a:solidFill>
                <a:latin typeface="IBM Plex Sans"/>
              </a:rPr>
              <a:t>System architecture</a:t>
            </a:r>
          </a:p>
        </p:txBody>
      </p:sp>
      <p:sp>
        <p:nvSpPr>
          <p:cNvPr id="9" name="Rounded Rectangle 8"/>
          <p:cNvSpPr/>
          <p:nvPr/>
        </p:nvSpPr>
        <p:spPr>
          <a:xfrm>
            <a:off x="566928" y="1709928"/>
            <a:ext cx="1417320" cy="1078991"/>
          </a:xfrm>
          <a:prstGeom prst="roundRect">
            <a:avLst/>
          </a:prstGeom>
          <a:solidFill>
            <a:srgbClr val="161B22"/>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76656" y="1847089"/>
            <a:ext cx="73152" cy="73152"/>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2673" y="1860805"/>
            <a:ext cx="1069848" cy="256032"/>
          </a:xfrm>
          <a:prstGeom prst="rect">
            <a:avLst/>
          </a:prstGeom>
          <a:noFill/>
        </p:spPr>
        <p:txBody>
          <a:bodyPr wrap="square" lIns="45720" rIns="45720" anchor="ctr">
            <a:spAutoFit/>
          </a:bodyPr>
          <a:lstStyle/>
          <a:p>
            <a:pPr algn="l"/>
            <a:r>
              <a:rPr sz="1500" b="1" i="0" dirty="0">
                <a:solidFill>
                  <a:srgbClr val="E6EDF3"/>
                </a:solidFill>
                <a:latin typeface="IBM Plex Sans"/>
              </a:rPr>
              <a:t>USER QUERY</a:t>
            </a:r>
          </a:p>
        </p:txBody>
      </p:sp>
      <p:sp>
        <p:nvSpPr>
          <p:cNvPr id="12" name="TextBox 11"/>
          <p:cNvSpPr txBox="1"/>
          <p:nvPr/>
        </p:nvSpPr>
        <p:spPr>
          <a:xfrm>
            <a:off x="831723" y="2171701"/>
            <a:ext cx="1069848" cy="274320"/>
          </a:xfrm>
          <a:prstGeom prst="rect">
            <a:avLst/>
          </a:prstGeom>
          <a:noFill/>
        </p:spPr>
        <p:txBody>
          <a:bodyPr wrap="square" lIns="45720" rIns="45720" anchor="t">
            <a:spAutoFit/>
          </a:bodyPr>
          <a:lstStyle/>
          <a:p>
            <a:pPr algn="l"/>
            <a:r>
              <a:rPr sz="1000" b="0" i="0" dirty="0">
                <a:solidFill>
                  <a:srgbClr val="8B949E"/>
                </a:solidFill>
                <a:latin typeface="IBM Plex Mono"/>
              </a:rPr>
              <a:t>plain language</a:t>
            </a:r>
          </a:p>
        </p:txBody>
      </p:sp>
      <p:sp>
        <p:nvSpPr>
          <p:cNvPr id="13" name="Rounded Rectangle 12"/>
          <p:cNvSpPr/>
          <p:nvPr/>
        </p:nvSpPr>
        <p:spPr>
          <a:xfrm>
            <a:off x="2240280" y="1709928"/>
            <a:ext cx="1417320" cy="1078993"/>
          </a:xfrm>
          <a:prstGeom prst="roundRect">
            <a:avLst/>
          </a:prstGeom>
          <a:solidFill>
            <a:srgbClr val="161B22"/>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2350008" y="1847089"/>
            <a:ext cx="73152" cy="73152"/>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496312" y="1783081"/>
            <a:ext cx="1069848" cy="256032"/>
          </a:xfrm>
          <a:prstGeom prst="rect">
            <a:avLst/>
          </a:prstGeom>
          <a:noFill/>
        </p:spPr>
        <p:txBody>
          <a:bodyPr wrap="square" lIns="45720" rIns="45720" anchor="ctr">
            <a:spAutoFit/>
          </a:bodyPr>
          <a:lstStyle/>
          <a:p>
            <a:pPr algn="l"/>
            <a:r>
              <a:rPr sz="1500" b="1" i="0">
                <a:solidFill>
                  <a:srgbClr val="E6EDF3"/>
                </a:solidFill>
                <a:latin typeface="IBM Plex Sans"/>
              </a:rPr>
              <a:t>NEXT.JS</a:t>
            </a:r>
          </a:p>
        </p:txBody>
      </p:sp>
      <p:sp>
        <p:nvSpPr>
          <p:cNvPr id="16" name="TextBox 15"/>
          <p:cNvSpPr txBox="1"/>
          <p:nvPr/>
        </p:nvSpPr>
        <p:spPr>
          <a:xfrm>
            <a:off x="2496312" y="2093977"/>
            <a:ext cx="1069848" cy="274320"/>
          </a:xfrm>
          <a:prstGeom prst="rect">
            <a:avLst/>
          </a:prstGeom>
          <a:noFill/>
        </p:spPr>
        <p:txBody>
          <a:bodyPr wrap="square" lIns="45720" rIns="45720" anchor="t">
            <a:spAutoFit/>
          </a:bodyPr>
          <a:lstStyle/>
          <a:p>
            <a:pPr algn="l"/>
            <a:r>
              <a:rPr sz="1000" b="0" i="0" dirty="0">
                <a:solidFill>
                  <a:srgbClr val="8B949E"/>
                </a:solidFill>
                <a:latin typeface="IBM Plex Mono"/>
              </a:rPr>
              <a:t>frontend
UI, charts, forms</a:t>
            </a:r>
          </a:p>
        </p:txBody>
      </p:sp>
      <p:sp>
        <p:nvSpPr>
          <p:cNvPr id="17" name="Rounded Rectangle 16"/>
          <p:cNvSpPr/>
          <p:nvPr/>
        </p:nvSpPr>
        <p:spPr>
          <a:xfrm>
            <a:off x="3913632" y="1709929"/>
            <a:ext cx="1417320" cy="1078992"/>
          </a:xfrm>
          <a:prstGeom prst="roundRect">
            <a:avLst/>
          </a:prstGeom>
          <a:solidFill>
            <a:srgbClr val="161B22"/>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4023360" y="1847089"/>
            <a:ext cx="73152" cy="73152"/>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69664" y="1783081"/>
            <a:ext cx="1069848" cy="256032"/>
          </a:xfrm>
          <a:prstGeom prst="rect">
            <a:avLst/>
          </a:prstGeom>
          <a:noFill/>
        </p:spPr>
        <p:txBody>
          <a:bodyPr wrap="square" lIns="45720" rIns="45720" anchor="ctr">
            <a:spAutoFit/>
          </a:bodyPr>
          <a:lstStyle/>
          <a:p>
            <a:pPr algn="l"/>
            <a:r>
              <a:rPr sz="1500" b="1" i="0">
                <a:solidFill>
                  <a:srgbClr val="E6EDF3"/>
                </a:solidFill>
                <a:latin typeface="IBM Plex Sans"/>
              </a:rPr>
              <a:t>FASTAPI</a:t>
            </a:r>
          </a:p>
        </p:txBody>
      </p:sp>
      <p:sp>
        <p:nvSpPr>
          <p:cNvPr id="20" name="TextBox 19"/>
          <p:cNvSpPr txBox="1"/>
          <p:nvPr/>
        </p:nvSpPr>
        <p:spPr>
          <a:xfrm>
            <a:off x="4169664" y="2093977"/>
            <a:ext cx="1069848" cy="274320"/>
          </a:xfrm>
          <a:prstGeom prst="rect">
            <a:avLst/>
          </a:prstGeom>
          <a:noFill/>
        </p:spPr>
        <p:txBody>
          <a:bodyPr wrap="square" lIns="45720" rIns="45720" anchor="t">
            <a:spAutoFit/>
          </a:bodyPr>
          <a:lstStyle/>
          <a:p>
            <a:pPr algn="l"/>
            <a:r>
              <a:rPr sz="1000" b="0" i="0">
                <a:solidFill>
                  <a:srgbClr val="8B949E"/>
                </a:solidFill>
                <a:latin typeface="IBM Plex Mono"/>
              </a:rPr>
              <a:t>bridge
REST + WebSocket API</a:t>
            </a:r>
          </a:p>
        </p:txBody>
      </p:sp>
      <p:sp>
        <p:nvSpPr>
          <p:cNvPr id="21" name="Rounded Rectangle 20"/>
          <p:cNvSpPr/>
          <p:nvPr/>
        </p:nvSpPr>
        <p:spPr>
          <a:xfrm>
            <a:off x="5586984" y="1709929"/>
            <a:ext cx="1828800" cy="1078992"/>
          </a:xfrm>
          <a:prstGeom prst="roundRect">
            <a:avLst/>
          </a:prstGeom>
          <a:solidFill>
            <a:srgbClr val="161B22"/>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5696712" y="1847089"/>
            <a:ext cx="73152" cy="7315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843016" y="1783081"/>
            <a:ext cx="1481328" cy="256032"/>
          </a:xfrm>
          <a:prstGeom prst="rect">
            <a:avLst/>
          </a:prstGeom>
          <a:noFill/>
        </p:spPr>
        <p:txBody>
          <a:bodyPr wrap="square" lIns="45720" rIns="45720" anchor="ctr">
            <a:spAutoFit/>
          </a:bodyPr>
          <a:lstStyle/>
          <a:p>
            <a:pPr algn="l"/>
            <a:r>
              <a:rPr sz="1500" b="1" i="0">
                <a:solidFill>
                  <a:srgbClr val="E6EDF3"/>
                </a:solidFill>
                <a:latin typeface="IBM Plex Sans"/>
              </a:rPr>
              <a:t>LANGGRAPH</a:t>
            </a:r>
          </a:p>
        </p:txBody>
      </p:sp>
      <p:sp>
        <p:nvSpPr>
          <p:cNvPr id="24" name="TextBox 23"/>
          <p:cNvSpPr txBox="1"/>
          <p:nvPr/>
        </p:nvSpPr>
        <p:spPr>
          <a:xfrm>
            <a:off x="5843016" y="2093977"/>
            <a:ext cx="1481328" cy="274320"/>
          </a:xfrm>
          <a:prstGeom prst="rect">
            <a:avLst/>
          </a:prstGeom>
          <a:noFill/>
        </p:spPr>
        <p:txBody>
          <a:bodyPr wrap="square" lIns="45720" rIns="45720" anchor="t">
            <a:spAutoFit/>
          </a:bodyPr>
          <a:lstStyle/>
          <a:p>
            <a:pPr algn="l"/>
            <a:r>
              <a:rPr sz="1000" b="0" i="0">
                <a:solidFill>
                  <a:srgbClr val="8B949E"/>
                </a:solidFill>
                <a:latin typeface="IBM Plex Mono"/>
              </a:rPr>
              <a:t>pipeline</a:t>
            </a:r>
          </a:p>
        </p:txBody>
      </p:sp>
      <p:sp>
        <p:nvSpPr>
          <p:cNvPr id="25" name="Rounded Rectangle 24"/>
          <p:cNvSpPr/>
          <p:nvPr/>
        </p:nvSpPr>
        <p:spPr>
          <a:xfrm>
            <a:off x="7735824" y="1709929"/>
            <a:ext cx="1508760" cy="1078990"/>
          </a:xfrm>
          <a:prstGeom prst="roundRect">
            <a:avLst/>
          </a:prstGeom>
          <a:solidFill>
            <a:srgbClr val="161B22"/>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845552" y="1847089"/>
            <a:ext cx="73152" cy="73152"/>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991856" y="1783081"/>
            <a:ext cx="1161288" cy="256032"/>
          </a:xfrm>
          <a:prstGeom prst="rect">
            <a:avLst/>
          </a:prstGeom>
          <a:noFill/>
        </p:spPr>
        <p:txBody>
          <a:bodyPr wrap="square" lIns="45720" rIns="45720" anchor="ctr">
            <a:spAutoFit/>
          </a:bodyPr>
          <a:lstStyle/>
          <a:p>
            <a:pPr algn="l"/>
            <a:r>
              <a:rPr sz="1500" b="1" i="0">
                <a:solidFill>
                  <a:srgbClr val="E6EDF3"/>
                </a:solidFill>
                <a:latin typeface="IBM Plex Sans"/>
              </a:rPr>
              <a:t>MCP TOOL</a:t>
            </a:r>
          </a:p>
        </p:txBody>
      </p:sp>
      <p:sp>
        <p:nvSpPr>
          <p:cNvPr id="28" name="TextBox 27"/>
          <p:cNvSpPr txBox="1"/>
          <p:nvPr/>
        </p:nvSpPr>
        <p:spPr>
          <a:xfrm>
            <a:off x="7991856" y="2093977"/>
            <a:ext cx="1161288" cy="274320"/>
          </a:xfrm>
          <a:prstGeom prst="rect">
            <a:avLst/>
          </a:prstGeom>
          <a:noFill/>
        </p:spPr>
        <p:txBody>
          <a:bodyPr wrap="square" lIns="45720" rIns="45720" anchor="t">
            <a:spAutoFit/>
          </a:bodyPr>
          <a:lstStyle/>
          <a:p>
            <a:pPr algn="l"/>
            <a:r>
              <a:rPr sz="1000" b="0" i="0" dirty="0">
                <a:solidFill>
                  <a:srgbClr val="8B949E"/>
                </a:solidFill>
                <a:latin typeface="IBM Plex Mono"/>
              </a:rPr>
              <a:t>server
Exposes DB tools safely</a:t>
            </a:r>
          </a:p>
        </p:txBody>
      </p:sp>
      <p:sp>
        <p:nvSpPr>
          <p:cNvPr id="29" name="Rounded Rectangle 28"/>
          <p:cNvSpPr/>
          <p:nvPr/>
        </p:nvSpPr>
        <p:spPr>
          <a:xfrm>
            <a:off x="9555480" y="1709929"/>
            <a:ext cx="1737360" cy="1078990"/>
          </a:xfrm>
          <a:prstGeom prst="roundRect">
            <a:avLst/>
          </a:prstGeom>
          <a:solidFill>
            <a:srgbClr val="161B22"/>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9665208" y="1847089"/>
            <a:ext cx="73152" cy="73152"/>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811512" y="1783081"/>
            <a:ext cx="1389888" cy="256032"/>
          </a:xfrm>
          <a:prstGeom prst="rect">
            <a:avLst/>
          </a:prstGeom>
          <a:noFill/>
        </p:spPr>
        <p:txBody>
          <a:bodyPr wrap="square" lIns="45720" rIns="45720" anchor="ctr">
            <a:spAutoFit/>
          </a:bodyPr>
          <a:lstStyle/>
          <a:p>
            <a:pPr algn="l"/>
            <a:r>
              <a:rPr sz="1500" b="1" i="0">
                <a:solidFill>
                  <a:srgbClr val="E6EDF3"/>
                </a:solidFill>
                <a:latin typeface="IBM Plex Sans"/>
              </a:rPr>
              <a:t>DATA LAYER</a:t>
            </a:r>
          </a:p>
        </p:txBody>
      </p:sp>
      <p:sp>
        <p:nvSpPr>
          <p:cNvPr id="32" name="TextBox 31"/>
          <p:cNvSpPr txBox="1"/>
          <p:nvPr/>
        </p:nvSpPr>
        <p:spPr>
          <a:xfrm>
            <a:off x="9811512" y="2093977"/>
            <a:ext cx="1389888" cy="400110"/>
          </a:xfrm>
          <a:prstGeom prst="rect">
            <a:avLst/>
          </a:prstGeom>
          <a:noFill/>
        </p:spPr>
        <p:txBody>
          <a:bodyPr wrap="square" lIns="45720" rIns="45720" anchor="t">
            <a:spAutoFit/>
          </a:bodyPr>
          <a:lstStyle/>
          <a:p>
            <a:r>
              <a:rPr sz="1000" dirty="0" err="1">
                <a:solidFill>
                  <a:schemeClr val="tx1">
                    <a:lumMod val="50000"/>
                    <a:lumOff val="50000"/>
                  </a:schemeClr>
                </a:solidFill>
                <a:latin typeface="IBM Plex Mono" panose="020B0509050203000203" pitchFamily="49" charset="0"/>
              </a:rPr>
              <a:t>DuckDB</a:t>
            </a:r>
            <a:r>
              <a:rPr sz="1000" dirty="0">
                <a:solidFill>
                  <a:schemeClr val="tx1">
                    <a:lumMod val="50000"/>
                    <a:lumOff val="50000"/>
                  </a:schemeClr>
                </a:solidFill>
                <a:latin typeface="IBM Plex Mono" panose="020B0509050203000203" pitchFamily="49" charset="0"/>
              </a:rPr>
              <a:t> → Neo4j → Redis</a:t>
            </a:r>
          </a:p>
        </p:txBody>
      </p:sp>
      <p:cxnSp>
        <p:nvCxnSpPr>
          <p:cNvPr id="33" name="Connector 32"/>
          <p:cNvCxnSpPr/>
          <p:nvPr/>
        </p:nvCxnSpPr>
        <p:spPr>
          <a:xfrm>
            <a:off x="1984248" y="2066545"/>
            <a:ext cx="219456" cy="0"/>
          </a:xfrm>
          <a:prstGeom prst="line">
            <a:avLst/>
          </a:prstGeom>
          <a:ln w="20320">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3657599" y="2066545"/>
            <a:ext cx="219457" cy="0"/>
          </a:xfrm>
          <a:prstGeom prst="line">
            <a:avLst/>
          </a:prstGeom>
          <a:ln w="20320">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394960" y="2066545"/>
            <a:ext cx="219456" cy="0"/>
          </a:xfrm>
          <a:prstGeom prst="line">
            <a:avLst/>
          </a:prstGeom>
          <a:ln w="20320">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498080" y="2066545"/>
            <a:ext cx="219456" cy="0"/>
          </a:xfrm>
          <a:prstGeom prst="line">
            <a:avLst/>
          </a:prstGeom>
          <a:ln w="20320">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363456" y="2066545"/>
            <a:ext cx="219456" cy="0"/>
          </a:xfrm>
          <a:prstGeom prst="line">
            <a:avLst/>
          </a:prstGeom>
          <a:ln w="20320">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5623560" y="3035809"/>
            <a:ext cx="5440680" cy="1188720"/>
          </a:xfrm>
          <a:prstGeom prst="roundRect">
            <a:avLst/>
          </a:prstGeom>
          <a:solidFill>
            <a:srgbClr val="161B22"/>
          </a:solidFill>
          <a:ln w="1016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788152" y="3145537"/>
            <a:ext cx="5111496" cy="182880"/>
          </a:xfrm>
          <a:prstGeom prst="rect">
            <a:avLst/>
          </a:prstGeom>
          <a:noFill/>
        </p:spPr>
        <p:txBody>
          <a:bodyPr wrap="square" lIns="45720" rIns="45720" anchor="t">
            <a:spAutoFit/>
          </a:bodyPr>
          <a:lstStyle/>
          <a:p>
            <a:pPr algn="l"/>
            <a:r>
              <a:rPr sz="900" b="1" i="0">
                <a:solidFill>
                  <a:srgbClr val="8B5CF6"/>
                </a:solidFill>
                <a:latin typeface="IBM Plex Mono"/>
              </a:rPr>
              <a:t>AGENT EXECUTION</a:t>
            </a:r>
          </a:p>
        </p:txBody>
      </p:sp>
      <p:sp>
        <p:nvSpPr>
          <p:cNvPr id="40" name="Rounded Rectangle 39"/>
          <p:cNvSpPr/>
          <p:nvPr/>
        </p:nvSpPr>
        <p:spPr>
          <a:xfrm>
            <a:off x="5897880" y="3465576"/>
            <a:ext cx="1325880" cy="512064"/>
          </a:xfrm>
          <a:prstGeom prst="roundRect">
            <a:avLst/>
          </a:prstGeom>
          <a:solidFill>
            <a:srgbClr val="161B22"/>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6007608" y="3602737"/>
            <a:ext cx="73152" cy="73152"/>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153912" y="3538728"/>
            <a:ext cx="978407" cy="256032"/>
          </a:xfrm>
          <a:prstGeom prst="rect">
            <a:avLst/>
          </a:prstGeom>
          <a:noFill/>
        </p:spPr>
        <p:txBody>
          <a:bodyPr wrap="square" lIns="27432" tIns="27432" rIns="27432" bIns="27432" anchor="ctr">
            <a:spAutoFit/>
          </a:bodyPr>
          <a:lstStyle/>
          <a:p>
            <a:pPr algn="l"/>
            <a:r>
              <a:rPr sz="800" b="1" i="0">
                <a:solidFill>
                  <a:srgbClr val="E6EDF3"/>
                </a:solidFill>
                <a:latin typeface="IBM Plex Sans"/>
              </a:rPr>
              <a:t>PLANNER</a:t>
            </a:r>
          </a:p>
        </p:txBody>
      </p:sp>
      <p:sp>
        <p:nvSpPr>
          <p:cNvPr id="43" name="Rounded Rectangle 42"/>
          <p:cNvSpPr/>
          <p:nvPr/>
        </p:nvSpPr>
        <p:spPr>
          <a:xfrm>
            <a:off x="7543800" y="3465576"/>
            <a:ext cx="1325880" cy="512064"/>
          </a:xfrm>
          <a:prstGeom prst="roundRect">
            <a:avLst/>
          </a:prstGeom>
          <a:solidFill>
            <a:srgbClr val="161B22"/>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7653527" y="3602737"/>
            <a:ext cx="73152" cy="73152"/>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799831" y="3538728"/>
            <a:ext cx="978407" cy="256032"/>
          </a:xfrm>
          <a:prstGeom prst="rect">
            <a:avLst/>
          </a:prstGeom>
          <a:noFill/>
        </p:spPr>
        <p:txBody>
          <a:bodyPr wrap="square" lIns="27432" tIns="27432" rIns="27432" bIns="27432" anchor="ctr">
            <a:spAutoFit/>
          </a:bodyPr>
          <a:lstStyle/>
          <a:p>
            <a:pPr algn="l"/>
            <a:r>
              <a:rPr sz="800" b="1" i="0">
                <a:solidFill>
                  <a:srgbClr val="E6EDF3"/>
                </a:solidFill>
                <a:latin typeface="IBM Plex Sans"/>
              </a:rPr>
              <a:t>EXECUTOR</a:t>
            </a:r>
          </a:p>
        </p:txBody>
      </p:sp>
      <p:sp>
        <p:nvSpPr>
          <p:cNvPr id="46" name="Rounded Rectangle 45"/>
          <p:cNvSpPr/>
          <p:nvPr/>
        </p:nvSpPr>
        <p:spPr>
          <a:xfrm>
            <a:off x="9189720" y="3465576"/>
            <a:ext cx="1417320" cy="512064"/>
          </a:xfrm>
          <a:prstGeom prst="roundRect">
            <a:avLst/>
          </a:prstGeom>
          <a:solidFill>
            <a:srgbClr val="161B22"/>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9299448" y="3602737"/>
            <a:ext cx="73152" cy="7315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9445752" y="3538728"/>
            <a:ext cx="1069848" cy="256032"/>
          </a:xfrm>
          <a:prstGeom prst="rect">
            <a:avLst/>
          </a:prstGeom>
          <a:noFill/>
        </p:spPr>
        <p:txBody>
          <a:bodyPr wrap="square" lIns="27432" tIns="27432" rIns="27432" bIns="27432" anchor="ctr">
            <a:spAutoFit/>
          </a:bodyPr>
          <a:lstStyle/>
          <a:p>
            <a:pPr algn="l"/>
            <a:r>
              <a:rPr sz="800" b="1" i="0">
                <a:solidFill>
                  <a:srgbClr val="E6EDF3"/>
                </a:solidFill>
                <a:latin typeface="IBM Plex Sans"/>
              </a:rPr>
              <a:t>ANALYZER</a:t>
            </a:r>
          </a:p>
        </p:txBody>
      </p:sp>
      <p:cxnSp>
        <p:nvCxnSpPr>
          <p:cNvPr id="49" name="Connector 48"/>
          <p:cNvCxnSpPr/>
          <p:nvPr/>
        </p:nvCxnSpPr>
        <p:spPr>
          <a:xfrm>
            <a:off x="7269480" y="3721609"/>
            <a:ext cx="210311" cy="0"/>
          </a:xfrm>
          <a:prstGeom prst="line">
            <a:avLst/>
          </a:prstGeom>
          <a:ln w="15240">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915400" y="3721609"/>
            <a:ext cx="210312" cy="0"/>
          </a:xfrm>
          <a:prstGeom prst="line">
            <a:avLst/>
          </a:prstGeom>
          <a:ln w="15240">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566927" y="4407408"/>
            <a:ext cx="4913757" cy="1453895"/>
          </a:xfrm>
          <a:prstGeom prst="roundRect">
            <a:avLst/>
          </a:prstGeom>
          <a:solidFill>
            <a:srgbClr val="161B22"/>
          </a:solidFill>
          <a:ln w="1016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31519" y="4517137"/>
            <a:ext cx="4334255" cy="182880"/>
          </a:xfrm>
          <a:prstGeom prst="rect">
            <a:avLst/>
          </a:prstGeom>
          <a:noFill/>
        </p:spPr>
        <p:txBody>
          <a:bodyPr wrap="square" lIns="45720" rIns="45720" anchor="t">
            <a:spAutoFit/>
          </a:bodyPr>
          <a:lstStyle/>
          <a:p>
            <a:pPr algn="l"/>
            <a:r>
              <a:rPr sz="900" b="1" i="0">
                <a:solidFill>
                  <a:srgbClr val="8B949E"/>
                </a:solidFill>
                <a:latin typeface="IBM Plex Mono"/>
              </a:rPr>
              <a:t>BACKGROUND AUTOMATION &amp; OBSERVABILITY</a:t>
            </a:r>
          </a:p>
        </p:txBody>
      </p:sp>
      <p:sp>
        <p:nvSpPr>
          <p:cNvPr id="54" name="Rounded Rectangle 53"/>
          <p:cNvSpPr/>
          <p:nvPr/>
        </p:nvSpPr>
        <p:spPr>
          <a:xfrm>
            <a:off x="831723" y="4745737"/>
            <a:ext cx="1088517" cy="758952"/>
          </a:xfrm>
          <a:prstGeom prst="roundRect">
            <a:avLst/>
          </a:prstGeom>
          <a:solidFill>
            <a:srgbClr val="161B22"/>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950976" y="4882897"/>
            <a:ext cx="73152" cy="73152"/>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097280" y="4818889"/>
            <a:ext cx="731519" cy="256032"/>
          </a:xfrm>
          <a:prstGeom prst="rect">
            <a:avLst/>
          </a:prstGeom>
          <a:noFill/>
        </p:spPr>
        <p:txBody>
          <a:bodyPr wrap="square" lIns="45720" rIns="45720" anchor="ctr">
            <a:spAutoFit/>
          </a:bodyPr>
          <a:lstStyle/>
          <a:p>
            <a:pPr algn="l"/>
            <a:r>
              <a:rPr sz="1200" b="1" i="0" dirty="0">
                <a:solidFill>
                  <a:srgbClr val="E6EDF3"/>
                </a:solidFill>
                <a:latin typeface="IBM Plex Sans"/>
              </a:rPr>
              <a:t>n8n</a:t>
            </a:r>
          </a:p>
        </p:txBody>
      </p:sp>
      <p:sp>
        <p:nvSpPr>
          <p:cNvPr id="57" name="TextBox 56"/>
          <p:cNvSpPr txBox="1"/>
          <p:nvPr/>
        </p:nvSpPr>
        <p:spPr>
          <a:xfrm rot="10800000" flipV="1">
            <a:off x="950975" y="5052728"/>
            <a:ext cx="877823" cy="246221"/>
          </a:xfrm>
          <a:prstGeom prst="rect">
            <a:avLst/>
          </a:prstGeom>
          <a:noFill/>
        </p:spPr>
        <p:txBody>
          <a:bodyPr wrap="square" lIns="45720" rIns="45720" anchor="t">
            <a:spAutoFit/>
          </a:bodyPr>
          <a:lstStyle/>
          <a:p>
            <a:pPr algn="l"/>
            <a:r>
              <a:rPr sz="1000" b="0" i="0" dirty="0">
                <a:solidFill>
                  <a:srgbClr val="8B949E"/>
                </a:solidFill>
                <a:latin typeface="IBM Plex Mono"/>
              </a:rPr>
              <a:t>automation</a:t>
            </a:r>
          </a:p>
        </p:txBody>
      </p:sp>
      <p:sp>
        <p:nvSpPr>
          <p:cNvPr id="58" name="Rounded Rectangle 57"/>
          <p:cNvSpPr/>
          <p:nvPr/>
        </p:nvSpPr>
        <p:spPr>
          <a:xfrm>
            <a:off x="2267712" y="4745737"/>
            <a:ext cx="1417320" cy="758952"/>
          </a:xfrm>
          <a:prstGeom prst="roundRect">
            <a:avLst/>
          </a:prstGeom>
          <a:solidFill>
            <a:srgbClr val="161B22"/>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2377440" y="4882897"/>
            <a:ext cx="73152" cy="73152"/>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2523744" y="4818889"/>
            <a:ext cx="1069848" cy="256032"/>
          </a:xfrm>
          <a:prstGeom prst="rect">
            <a:avLst/>
          </a:prstGeom>
          <a:noFill/>
        </p:spPr>
        <p:txBody>
          <a:bodyPr wrap="square" lIns="45720" rIns="45720" anchor="ctr">
            <a:spAutoFit/>
          </a:bodyPr>
          <a:lstStyle/>
          <a:p>
            <a:pPr algn="l"/>
            <a:r>
              <a:rPr sz="1200" b="1" i="0">
                <a:solidFill>
                  <a:srgbClr val="E6EDF3"/>
                </a:solidFill>
                <a:latin typeface="IBM Plex Sans"/>
              </a:rPr>
              <a:t>Prometheus</a:t>
            </a:r>
          </a:p>
        </p:txBody>
      </p:sp>
      <p:sp>
        <p:nvSpPr>
          <p:cNvPr id="61" name="TextBox 60"/>
          <p:cNvSpPr txBox="1"/>
          <p:nvPr/>
        </p:nvSpPr>
        <p:spPr>
          <a:xfrm>
            <a:off x="2496312" y="5097781"/>
            <a:ext cx="1069848" cy="0"/>
          </a:xfrm>
          <a:prstGeom prst="rect">
            <a:avLst/>
          </a:prstGeom>
          <a:noFill/>
        </p:spPr>
        <p:txBody>
          <a:bodyPr wrap="square" lIns="45720" rIns="45720" anchor="t">
            <a:spAutoFit/>
          </a:bodyPr>
          <a:lstStyle/>
          <a:p>
            <a:pPr algn="l"/>
            <a:r>
              <a:rPr sz="1000" b="0" i="0" dirty="0">
                <a:solidFill>
                  <a:srgbClr val="8B949E"/>
                </a:solidFill>
                <a:latin typeface="IBM Plex Mono"/>
              </a:rPr>
              <a:t>metrics</a:t>
            </a:r>
          </a:p>
        </p:txBody>
      </p:sp>
      <p:sp>
        <p:nvSpPr>
          <p:cNvPr id="62" name="Rounded Rectangle 61"/>
          <p:cNvSpPr/>
          <p:nvPr/>
        </p:nvSpPr>
        <p:spPr>
          <a:xfrm>
            <a:off x="4059936" y="4693540"/>
            <a:ext cx="1197865" cy="758952"/>
          </a:xfrm>
          <a:prstGeom prst="roundRect">
            <a:avLst/>
          </a:prstGeom>
          <a:solidFill>
            <a:srgbClr val="161B22"/>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4151376" y="4882897"/>
            <a:ext cx="73152" cy="73152"/>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4297679" y="4831260"/>
            <a:ext cx="687705" cy="276999"/>
          </a:xfrm>
          <a:prstGeom prst="rect">
            <a:avLst/>
          </a:prstGeom>
          <a:noFill/>
        </p:spPr>
        <p:txBody>
          <a:bodyPr wrap="square" lIns="45720" rIns="45720" anchor="ctr">
            <a:spAutoFit/>
          </a:bodyPr>
          <a:lstStyle/>
          <a:p>
            <a:pPr algn="l"/>
            <a:r>
              <a:rPr sz="1200" b="1" i="0" dirty="0">
                <a:solidFill>
                  <a:srgbClr val="E6EDF3"/>
                </a:solidFill>
                <a:latin typeface="IBM Plex Sans"/>
              </a:rPr>
              <a:t>Grafana</a:t>
            </a:r>
          </a:p>
        </p:txBody>
      </p:sp>
      <p:sp>
        <p:nvSpPr>
          <p:cNvPr id="65" name="TextBox 64"/>
          <p:cNvSpPr txBox="1"/>
          <p:nvPr/>
        </p:nvSpPr>
        <p:spPr>
          <a:xfrm>
            <a:off x="4297680" y="5129784"/>
            <a:ext cx="894968" cy="246221"/>
          </a:xfrm>
          <a:prstGeom prst="rect">
            <a:avLst/>
          </a:prstGeom>
          <a:noFill/>
        </p:spPr>
        <p:txBody>
          <a:bodyPr wrap="square" lIns="45720" rIns="45720" anchor="t">
            <a:spAutoFit/>
          </a:bodyPr>
          <a:lstStyle/>
          <a:p>
            <a:pPr algn="l"/>
            <a:r>
              <a:rPr sz="1000" b="0" i="0" dirty="0">
                <a:solidFill>
                  <a:srgbClr val="8B949E"/>
                </a:solidFill>
                <a:latin typeface="IBM Plex Mono"/>
              </a:rPr>
              <a:t>dashboards</a:t>
            </a:r>
          </a:p>
        </p:txBody>
      </p:sp>
      <p:cxnSp>
        <p:nvCxnSpPr>
          <p:cNvPr id="66" name="Connector 65"/>
          <p:cNvCxnSpPr/>
          <p:nvPr/>
        </p:nvCxnSpPr>
        <p:spPr>
          <a:xfrm>
            <a:off x="1920240" y="4965193"/>
            <a:ext cx="292608" cy="0"/>
          </a:xfrm>
          <a:prstGeom prst="line">
            <a:avLst/>
          </a:prstGeom>
          <a:ln w="12700">
            <a:solidFill>
              <a:srgbClr val="2DD4BF"/>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3730751" y="4965193"/>
            <a:ext cx="256033" cy="0"/>
          </a:xfrm>
          <a:prstGeom prst="line">
            <a:avLst/>
          </a:prstGeom>
          <a:ln w="12700">
            <a:solidFill>
              <a:srgbClr val="2DD4BF"/>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5732144" y="4617721"/>
            <a:ext cx="5303520" cy="320040"/>
          </a:xfrm>
          <a:prstGeom prst="rect">
            <a:avLst/>
          </a:prstGeom>
          <a:noFill/>
        </p:spPr>
        <p:txBody>
          <a:bodyPr wrap="square" lIns="45720" rIns="45720" anchor="t">
            <a:spAutoFit/>
          </a:bodyPr>
          <a:lstStyle/>
          <a:p>
            <a:pPr algn="l"/>
            <a:r>
              <a:rPr sz="1200" b="0" i="0" dirty="0">
                <a:solidFill>
                  <a:srgbClr val="8B949E"/>
                </a:solidFill>
                <a:latin typeface="IBM Plex Sans"/>
              </a:rPr>
              <a:t>n8n, Prometheus and Grafana watch every layer in the background</a:t>
            </a:r>
          </a:p>
        </p:txBody>
      </p:sp>
      <p:sp>
        <p:nvSpPr>
          <p:cNvPr id="69" name="TextBox 68"/>
          <p:cNvSpPr txBox="1"/>
          <p:nvPr/>
        </p:nvSpPr>
        <p:spPr>
          <a:xfrm>
            <a:off x="566928" y="6519672"/>
            <a:ext cx="5852160" cy="164592"/>
          </a:xfrm>
          <a:prstGeom prst="rect">
            <a:avLst/>
          </a:prstGeom>
          <a:noFill/>
        </p:spPr>
        <p:txBody>
          <a:bodyPr wrap="square" lIns="45720" rIns="45720" anchor="t">
            <a:spAutoFit/>
          </a:bodyPr>
          <a:lstStyle/>
          <a:p>
            <a:pPr algn="l"/>
            <a:r>
              <a:rPr sz="900" b="0" i="0">
                <a:solidFill>
                  <a:srgbClr val="8B949E"/>
                </a:solidFill>
                <a:latin typeface="IBM Plex Mono"/>
              </a:rPr>
              <a:t>DATA PILOT AI  /  DECISION INTELLIGENCE</a:t>
            </a:r>
          </a:p>
        </p:txBody>
      </p:sp>
      <p:sp>
        <p:nvSpPr>
          <p:cNvPr id="70" name="TextBox 69"/>
          <p:cNvSpPr txBox="1"/>
          <p:nvPr/>
        </p:nvSpPr>
        <p:spPr>
          <a:xfrm>
            <a:off x="11201400" y="6501384"/>
            <a:ext cx="228600" cy="182880"/>
          </a:xfrm>
          <a:prstGeom prst="rect">
            <a:avLst/>
          </a:prstGeom>
          <a:noFill/>
        </p:spPr>
        <p:txBody>
          <a:bodyPr wrap="square" lIns="45720" rIns="45720" anchor="t">
            <a:spAutoFit/>
          </a:bodyPr>
          <a:lstStyle/>
          <a:p>
            <a:r>
              <a:rPr sz="900"/>
              <a:t>→</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2103120" cy="246221"/>
          </a:xfrm>
          <a:prstGeom prst="rect">
            <a:avLst/>
          </a:prstGeom>
          <a:noFill/>
        </p:spPr>
        <p:txBody>
          <a:bodyPr wrap="square" lIns="45720" rIns="45720" anchor="t">
            <a:spAutoFit/>
          </a:bodyPr>
          <a:lstStyle/>
          <a:p>
            <a:pPr algn="l"/>
            <a:r>
              <a:rPr sz="1000" b="0" i="0" dirty="0">
                <a:solidFill>
                  <a:srgbClr val="8B949E"/>
                </a:solidFill>
                <a:latin typeface="IBM Plex Mono"/>
              </a:rPr>
              <a:t>DATAPILOT AI  /  0</a:t>
            </a:r>
            <a:r>
              <a:rPr lang="en-IN" sz="1000" b="0" i="0" dirty="0">
                <a:solidFill>
                  <a:srgbClr val="8B949E"/>
                </a:solidFill>
                <a:latin typeface="IBM Plex Mono"/>
              </a:rPr>
              <a:t>5</a:t>
            </a:r>
            <a:endParaRPr sz="1000" b="0" i="0" dirty="0">
              <a:solidFill>
                <a:srgbClr val="8B949E"/>
              </a:solidFill>
              <a:latin typeface="IBM Plex Mono"/>
            </a:endParaRPr>
          </a:p>
        </p:txBody>
      </p:sp>
      <p:sp>
        <p:nvSpPr>
          <p:cNvPr id="6" name="Rectangle 5"/>
          <p:cNvSpPr/>
          <p:nvPr/>
        </p:nvSpPr>
        <p:spPr>
          <a:xfrm>
            <a:off x="502920" y="585216"/>
            <a:ext cx="11183112" cy="9144"/>
          </a:xfrm>
          <a:prstGeom prst="rect">
            <a:avLst/>
          </a:prstGeom>
          <a:solidFill>
            <a:srgbClr val="303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786384"/>
            <a:ext cx="7955279" cy="475488"/>
          </a:xfrm>
          <a:prstGeom prst="rect">
            <a:avLst/>
          </a:prstGeom>
          <a:noFill/>
        </p:spPr>
        <p:txBody>
          <a:bodyPr wrap="square" lIns="45720" rIns="45720" anchor="t">
            <a:spAutoFit/>
          </a:bodyPr>
          <a:lstStyle/>
          <a:p>
            <a:pPr algn="l"/>
            <a:r>
              <a:rPr sz="3000" b="1" i="0">
                <a:solidFill>
                  <a:srgbClr val="E6EDF3"/>
                </a:solidFill>
                <a:latin typeface="IBM Plex Sans"/>
              </a:rPr>
              <a:t>Orchestration layer</a:t>
            </a:r>
          </a:p>
        </p:txBody>
      </p:sp>
      <p:sp>
        <p:nvSpPr>
          <p:cNvPr id="9" name="Rounded Rectangle 8"/>
          <p:cNvSpPr/>
          <p:nvPr/>
        </p:nvSpPr>
        <p:spPr>
          <a:xfrm>
            <a:off x="658368" y="1691640"/>
            <a:ext cx="10881360" cy="804672"/>
          </a:xfrm>
          <a:prstGeom prst="roundRect">
            <a:avLst/>
          </a:prstGeom>
          <a:solidFill>
            <a:srgbClr val="161B22"/>
          </a:solidFill>
          <a:ln w="1016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8486" y="1728216"/>
            <a:ext cx="10552176" cy="182880"/>
          </a:xfrm>
          <a:prstGeom prst="rect">
            <a:avLst/>
          </a:prstGeom>
          <a:noFill/>
        </p:spPr>
        <p:txBody>
          <a:bodyPr wrap="square" lIns="45720" rIns="45720" anchor="t">
            <a:spAutoFit/>
          </a:bodyPr>
          <a:lstStyle/>
          <a:p>
            <a:pPr algn="l"/>
            <a:r>
              <a:rPr sz="900" b="1" i="0" dirty="0">
                <a:solidFill>
                  <a:srgbClr val="8B5CF6"/>
                </a:solidFill>
                <a:latin typeface="IBM Plex Mono"/>
              </a:rPr>
              <a:t>AGENT FLOW</a:t>
            </a:r>
          </a:p>
        </p:txBody>
      </p:sp>
      <p:sp>
        <p:nvSpPr>
          <p:cNvPr id="11" name="Rounded Rectangle 10"/>
          <p:cNvSpPr/>
          <p:nvPr/>
        </p:nvSpPr>
        <p:spPr>
          <a:xfrm>
            <a:off x="960120" y="1965960"/>
            <a:ext cx="1417320" cy="438912"/>
          </a:xfrm>
          <a:prstGeom prst="roundRect">
            <a:avLst/>
          </a:prstGeom>
          <a:solidFill>
            <a:srgbClr val="161B22"/>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69848" y="2103120"/>
            <a:ext cx="73152" cy="73152"/>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16152" y="2039112"/>
            <a:ext cx="1069848" cy="256032"/>
          </a:xfrm>
          <a:prstGeom prst="rect">
            <a:avLst/>
          </a:prstGeom>
          <a:noFill/>
        </p:spPr>
        <p:txBody>
          <a:bodyPr wrap="square" lIns="45720" rIns="45720" anchor="ctr">
            <a:spAutoFit/>
          </a:bodyPr>
          <a:lstStyle/>
          <a:p>
            <a:pPr algn="l"/>
            <a:r>
              <a:rPr sz="1200" b="1" i="0">
                <a:solidFill>
                  <a:srgbClr val="E6EDF3"/>
                </a:solidFill>
                <a:latin typeface="IBM Plex Sans"/>
              </a:rPr>
              <a:t>PLANNER</a:t>
            </a:r>
          </a:p>
        </p:txBody>
      </p:sp>
      <p:sp>
        <p:nvSpPr>
          <p:cNvPr id="14" name="Rounded Rectangle 13"/>
          <p:cNvSpPr/>
          <p:nvPr/>
        </p:nvSpPr>
        <p:spPr>
          <a:xfrm>
            <a:off x="2880360" y="1965960"/>
            <a:ext cx="1417320" cy="438912"/>
          </a:xfrm>
          <a:prstGeom prst="roundRect">
            <a:avLst/>
          </a:prstGeom>
          <a:solidFill>
            <a:srgbClr val="161B22"/>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2990088" y="2103120"/>
            <a:ext cx="73152" cy="73152"/>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136391" y="2039112"/>
            <a:ext cx="1069848" cy="256032"/>
          </a:xfrm>
          <a:prstGeom prst="rect">
            <a:avLst/>
          </a:prstGeom>
          <a:noFill/>
        </p:spPr>
        <p:txBody>
          <a:bodyPr wrap="square" lIns="45720" rIns="45720" anchor="ctr">
            <a:spAutoFit/>
          </a:bodyPr>
          <a:lstStyle/>
          <a:p>
            <a:pPr algn="l"/>
            <a:r>
              <a:rPr sz="1200" b="1" i="0">
                <a:solidFill>
                  <a:srgbClr val="E6EDF3"/>
                </a:solidFill>
                <a:latin typeface="IBM Plex Sans"/>
              </a:rPr>
              <a:t>EXECUTOR</a:t>
            </a:r>
          </a:p>
        </p:txBody>
      </p:sp>
      <p:sp>
        <p:nvSpPr>
          <p:cNvPr id="17" name="Rounded Rectangle 16"/>
          <p:cNvSpPr/>
          <p:nvPr/>
        </p:nvSpPr>
        <p:spPr>
          <a:xfrm>
            <a:off x="4800600" y="1965960"/>
            <a:ext cx="1417320" cy="438912"/>
          </a:xfrm>
          <a:prstGeom prst="roundRect">
            <a:avLst/>
          </a:prstGeom>
          <a:solidFill>
            <a:srgbClr val="161B22"/>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4910328" y="2103120"/>
            <a:ext cx="73152" cy="7315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56632" y="2039112"/>
            <a:ext cx="1069848" cy="256032"/>
          </a:xfrm>
          <a:prstGeom prst="rect">
            <a:avLst/>
          </a:prstGeom>
          <a:noFill/>
        </p:spPr>
        <p:txBody>
          <a:bodyPr wrap="square" lIns="45720" rIns="45720" anchor="ctr">
            <a:spAutoFit/>
          </a:bodyPr>
          <a:lstStyle/>
          <a:p>
            <a:pPr algn="l"/>
            <a:r>
              <a:rPr sz="1200" b="1" i="0">
                <a:solidFill>
                  <a:srgbClr val="E6EDF3"/>
                </a:solidFill>
                <a:latin typeface="IBM Plex Sans"/>
              </a:rPr>
              <a:t>ANALYZER</a:t>
            </a:r>
          </a:p>
        </p:txBody>
      </p:sp>
      <p:sp>
        <p:nvSpPr>
          <p:cNvPr id="20" name="Rounded Rectangle 19"/>
          <p:cNvSpPr/>
          <p:nvPr/>
        </p:nvSpPr>
        <p:spPr>
          <a:xfrm>
            <a:off x="6720840" y="1965960"/>
            <a:ext cx="1417320" cy="438912"/>
          </a:xfrm>
          <a:prstGeom prst="roundRect">
            <a:avLst/>
          </a:prstGeom>
          <a:solidFill>
            <a:srgbClr val="161B22"/>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830568" y="2103120"/>
            <a:ext cx="73152" cy="73152"/>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976872" y="2039112"/>
            <a:ext cx="1069848" cy="256032"/>
          </a:xfrm>
          <a:prstGeom prst="rect">
            <a:avLst/>
          </a:prstGeom>
          <a:noFill/>
        </p:spPr>
        <p:txBody>
          <a:bodyPr wrap="square" lIns="45720" rIns="45720" anchor="ctr">
            <a:spAutoFit/>
          </a:bodyPr>
          <a:lstStyle/>
          <a:p>
            <a:pPr algn="l"/>
            <a:r>
              <a:rPr sz="1200" b="1" i="0">
                <a:solidFill>
                  <a:srgbClr val="E6EDF3"/>
                </a:solidFill>
                <a:latin typeface="IBM Plex Sans"/>
              </a:rPr>
              <a:t>MCP</a:t>
            </a:r>
          </a:p>
        </p:txBody>
      </p:sp>
      <p:sp>
        <p:nvSpPr>
          <p:cNvPr id="23" name="TextBox 22"/>
          <p:cNvSpPr txBox="1"/>
          <p:nvPr/>
        </p:nvSpPr>
        <p:spPr>
          <a:xfrm>
            <a:off x="7357872" y="2039112"/>
            <a:ext cx="1069848" cy="0"/>
          </a:xfrm>
          <a:prstGeom prst="rect">
            <a:avLst/>
          </a:prstGeom>
          <a:noFill/>
        </p:spPr>
        <p:txBody>
          <a:bodyPr wrap="square" lIns="45720" rIns="45720" anchor="t">
            <a:spAutoFit/>
          </a:bodyPr>
          <a:lstStyle/>
          <a:p>
            <a:pPr algn="l"/>
            <a:r>
              <a:rPr sz="1000" b="0" i="0" dirty="0">
                <a:solidFill>
                  <a:srgbClr val="8B949E"/>
                </a:solidFill>
                <a:latin typeface="IBM Plex Mono"/>
              </a:rPr>
              <a:t>tool interface</a:t>
            </a:r>
          </a:p>
        </p:txBody>
      </p:sp>
      <p:cxnSp>
        <p:nvCxnSpPr>
          <p:cNvPr id="24" name="Connector 23"/>
          <p:cNvCxnSpPr/>
          <p:nvPr/>
        </p:nvCxnSpPr>
        <p:spPr>
          <a:xfrm>
            <a:off x="2395728" y="2185416"/>
            <a:ext cx="420624" cy="0"/>
          </a:xfrm>
          <a:prstGeom prst="line">
            <a:avLst/>
          </a:prstGeom>
          <a:ln w="15240">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315968" y="2185416"/>
            <a:ext cx="420624" cy="0"/>
          </a:xfrm>
          <a:prstGeom prst="line">
            <a:avLst/>
          </a:prstGeom>
          <a:ln w="15240">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236208" y="2185416"/>
            <a:ext cx="420624" cy="0"/>
          </a:xfrm>
          <a:prstGeom prst="line">
            <a:avLst/>
          </a:prstGeom>
          <a:ln w="15240">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27" name="Table 26"/>
          <p:cNvGraphicFramePr>
            <a:graphicFrameLocks noGrp="1"/>
          </p:cNvGraphicFramePr>
          <p:nvPr/>
        </p:nvGraphicFramePr>
        <p:xfrm>
          <a:off x="640080" y="2788920"/>
          <a:ext cx="10927080" cy="2011680"/>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gridCol w="3886200">
                  <a:extLst>
                    <a:ext uri="{9D8B030D-6E8A-4147-A177-3AD203B41FA5}">
                      <a16:colId xmlns:a16="http://schemas.microsoft.com/office/drawing/2014/main" val="20002"/>
                    </a:ext>
                  </a:extLst>
                </a:gridCol>
              </a:tblGrid>
              <a:tr h="670560">
                <a:tc>
                  <a:txBody>
                    <a:bodyPr/>
                    <a:lstStyle/>
                    <a:p>
                      <a:pPr algn="l"/>
                      <a:r>
                        <a:rPr sz="1000" b="1">
                          <a:solidFill>
                            <a:srgbClr val="2DD4BF"/>
                          </a:solidFill>
                          <a:latin typeface="IBM Plex Mono"/>
                        </a:rPr>
                        <a:t>Tool</a:t>
                      </a:r>
                    </a:p>
                  </a:txBody>
                  <a:tcPr marL="73152" marR="73152">
                    <a:solidFill>
                      <a:srgbClr val="30363D"/>
                    </a:solidFill>
                  </a:tcPr>
                </a:tc>
                <a:tc>
                  <a:txBody>
                    <a:bodyPr/>
                    <a:lstStyle/>
                    <a:p>
                      <a:pPr algn="l"/>
                      <a:r>
                        <a:rPr sz="1000" b="1">
                          <a:solidFill>
                            <a:srgbClr val="2DD4BF"/>
                          </a:solidFill>
                          <a:latin typeface="IBM Plex Mono"/>
                        </a:rPr>
                        <a:t>Why this tool</a:t>
                      </a:r>
                    </a:p>
                  </a:txBody>
                  <a:tcPr marL="73152" marR="73152">
                    <a:solidFill>
                      <a:srgbClr val="30363D"/>
                    </a:solidFill>
                  </a:tcPr>
                </a:tc>
                <a:tc>
                  <a:txBody>
                    <a:bodyPr/>
                    <a:lstStyle/>
                    <a:p>
                      <a:pPr algn="l"/>
                      <a:r>
                        <a:rPr sz="1000" b="1">
                          <a:solidFill>
                            <a:srgbClr val="2DD4BF"/>
                          </a:solidFill>
                          <a:latin typeface="IBM Plex Mono"/>
                        </a:rPr>
                        <a:t>What it handles</a:t>
                      </a:r>
                    </a:p>
                  </a:txBody>
                  <a:tcPr marL="73152" marR="73152">
                    <a:solidFill>
                      <a:srgbClr val="30363D"/>
                    </a:solidFill>
                  </a:tcPr>
                </a:tc>
                <a:extLst>
                  <a:ext uri="{0D108BD9-81ED-4DB2-BD59-A6C34878D82A}">
                    <a16:rowId xmlns:a16="http://schemas.microsoft.com/office/drawing/2014/main" val="10000"/>
                  </a:ext>
                </a:extLst>
              </a:tr>
              <a:tr h="670560">
                <a:tc>
                  <a:txBody>
                    <a:bodyPr/>
                    <a:lstStyle/>
                    <a:p>
                      <a:pPr algn="l"/>
                      <a:r>
                        <a:rPr sz="1100" b="1">
                          <a:solidFill>
                            <a:srgbClr val="E6EDF3"/>
                          </a:solidFill>
                          <a:latin typeface="IBM Plex Sans"/>
                        </a:rPr>
                        <a:t>LangGraph</a:t>
                      </a:r>
                    </a:p>
                  </a:txBody>
                  <a:tcPr marL="73152" marR="73152">
                    <a:solidFill>
                      <a:srgbClr val="161B22"/>
                    </a:solidFill>
                  </a:tcPr>
                </a:tc>
                <a:tc>
                  <a:txBody>
                    <a:bodyPr/>
                    <a:lstStyle/>
                    <a:p>
                      <a:pPr algn="l"/>
                      <a:r>
                        <a:rPr sz="1100" b="0">
                          <a:solidFill>
                            <a:srgbClr val="8B949E"/>
                          </a:solidFill>
                          <a:latin typeface="IBM Plex Sans"/>
                        </a:rPr>
                        <a:t>Purpose-built for multi-step agent workflows with explicit state ? matches the three-agent design directly.</a:t>
                      </a:r>
                    </a:p>
                  </a:txBody>
                  <a:tcPr marL="73152" marR="73152">
                    <a:solidFill>
                      <a:srgbClr val="161B22"/>
                    </a:solidFill>
                  </a:tcPr>
                </a:tc>
                <a:tc>
                  <a:txBody>
                    <a:bodyPr/>
                    <a:lstStyle/>
                    <a:p>
                      <a:pPr algn="l"/>
                      <a:r>
                        <a:rPr sz="1100" b="0">
                          <a:solidFill>
                            <a:srgbClr val="8B949E"/>
                          </a:solidFill>
                          <a:latin typeface="IBM Plex Sans"/>
                        </a:rPr>
                        <a:t>Runs the Planner ? Executor ? Analyzer state machine</a:t>
                      </a:r>
                    </a:p>
                  </a:txBody>
                  <a:tcPr marL="73152" marR="73152">
                    <a:solidFill>
                      <a:srgbClr val="161B22"/>
                    </a:solidFill>
                  </a:tcPr>
                </a:tc>
                <a:extLst>
                  <a:ext uri="{0D108BD9-81ED-4DB2-BD59-A6C34878D82A}">
                    <a16:rowId xmlns:a16="http://schemas.microsoft.com/office/drawing/2014/main" val="10001"/>
                  </a:ext>
                </a:extLst>
              </a:tr>
              <a:tr h="670560">
                <a:tc>
                  <a:txBody>
                    <a:bodyPr/>
                    <a:lstStyle/>
                    <a:p>
                      <a:pPr algn="l"/>
                      <a:r>
                        <a:rPr sz="1100" b="1">
                          <a:solidFill>
                            <a:srgbClr val="E6EDF3"/>
                          </a:solidFill>
                          <a:latin typeface="IBM Plex Sans"/>
                        </a:rPr>
                        <a:t>MCP</a:t>
                      </a:r>
                    </a:p>
                  </a:txBody>
                  <a:tcPr marL="73152" marR="73152">
                    <a:solidFill>
                      <a:srgbClr val="161B22"/>
                    </a:solidFill>
                  </a:tcPr>
                </a:tc>
                <a:tc>
                  <a:txBody>
                    <a:bodyPr/>
                    <a:lstStyle/>
                    <a:p>
                      <a:pPr algn="l"/>
                      <a:r>
                        <a:rPr sz="1100" b="0">
                          <a:solidFill>
                            <a:srgbClr val="8B949E"/>
                          </a:solidFill>
                          <a:latin typeface="IBM Plex Sans"/>
                        </a:rPr>
                        <a:t>Separates ?what tool the agent calls? from ?how that database is wired up,? which is what keeps the system secure and explainable.</a:t>
                      </a:r>
                    </a:p>
                  </a:txBody>
                  <a:tcPr marL="73152" marR="73152">
                    <a:solidFill>
                      <a:srgbClr val="161B22"/>
                    </a:solidFill>
                  </a:tcPr>
                </a:tc>
                <a:tc>
                  <a:txBody>
                    <a:bodyPr/>
                    <a:lstStyle/>
                    <a:p>
                      <a:pPr algn="l"/>
                      <a:r>
                        <a:rPr sz="1100" b="0">
                          <a:solidFill>
                            <a:srgbClr val="8B949E"/>
                          </a:solidFill>
                          <a:latin typeface="IBM Plex Sans"/>
                        </a:rPr>
                        <a:t>Tool interface between agents and databases</a:t>
                      </a:r>
                    </a:p>
                  </a:txBody>
                  <a:tcPr marL="73152" marR="73152">
                    <a:solidFill>
                      <a:srgbClr val="161B22"/>
                    </a:solidFill>
                  </a:tcPr>
                </a:tc>
                <a:extLst>
                  <a:ext uri="{0D108BD9-81ED-4DB2-BD59-A6C34878D82A}">
                    <a16:rowId xmlns:a16="http://schemas.microsoft.com/office/drawing/2014/main" val="10002"/>
                  </a:ext>
                </a:extLst>
              </a:tr>
            </a:tbl>
          </a:graphicData>
        </a:graphic>
      </p:graphicFrame>
      <p:sp>
        <p:nvSpPr>
          <p:cNvPr id="28" name="Rounded Rectangle 27"/>
          <p:cNvSpPr/>
          <p:nvPr/>
        </p:nvSpPr>
        <p:spPr>
          <a:xfrm>
            <a:off x="658368" y="5166360"/>
            <a:ext cx="5212080" cy="658368"/>
          </a:xfrm>
          <a:prstGeom prst="roundRect">
            <a:avLst/>
          </a:prstGeom>
          <a:solidFill>
            <a:srgbClr val="161B22"/>
          </a:solidFill>
          <a:ln w="1016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2959" y="5276088"/>
            <a:ext cx="4882896" cy="182880"/>
          </a:xfrm>
          <a:prstGeom prst="rect">
            <a:avLst/>
          </a:prstGeom>
          <a:noFill/>
        </p:spPr>
        <p:txBody>
          <a:bodyPr wrap="square" lIns="45720" rIns="45720" anchor="t">
            <a:spAutoFit/>
          </a:bodyPr>
          <a:lstStyle/>
          <a:p>
            <a:pPr algn="l"/>
            <a:r>
              <a:rPr sz="900" b="1" i="0">
                <a:solidFill>
                  <a:srgbClr val="8B5CF6"/>
                </a:solidFill>
                <a:latin typeface="IBM Plex Mono"/>
              </a:rPr>
              <a:t>LANGGRAPH</a:t>
            </a:r>
          </a:p>
        </p:txBody>
      </p:sp>
      <p:sp>
        <p:nvSpPr>
          <p:cNvPr id="30" name="TextBox 29"/>
          <p:cNvSpPr txBox="1"/>
          <p:nvPr/>
        </p:nvSpPr>
        <p:spPr>
          <a:xfrm>
            <a:off x="822959" y="5458968"/>
            <a:ext cx="4663440" cy="261610"/>
          </a:xfrm>
          <a:prstGeom prst="rect">
            <a:avLst/>
          </a:prstGeom>
          <a:noFill/>
        </p:spPr>
        <p:txBody>
          <a:bodyPr wrap="square" lIns="45720" rIns="45720" anchor="t">
            <a:spAutoFit/>
          </a:bodyPr>
          <a:lstStyle/>
          <a:p>
            <a:r>
              <a:rPr sz="1100" b="1" dirty="0">
                <a:solidFill>
                  <a:schemeClr val="bg1"/>
                </a:solidFill>
                <a:latin typeface="IBM Plex Sans" panose="020B0503050203000203" pitchFamily="34" charset="0"/>
              </a:rPr>
              <a:t>Explicit state across Planner → Executor → Analyzer</a:t>
            </a:r>
          </a:p>
        </p:txBody>
      </p:sp>
      <p:sp>
        <p:nvSpPr>
          <p:cNvPr id="31" name="Rounded Rectangle 30"/>
          <p:cNvSpPr/>
          <p:nvPr/>
        </p:nvSpPr>
        <p:spPr>
          <a:xfrm>
            <a:off x="6172200" y="5166360"/>
            <a:ext cx="5394960" cy="658368"/>
          </a:xfrm>
          <a:prstGeom prst="roundRect">
            <a:avLst/>
          </a:prstGeom>
          <a:solidFill>
            <a:srgbClr val="161B22"/>
          </a:solidFill>
          <a:ln w="1016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36792" y="5276088"/>
            <a:ext cx="5065776" cy="182880"/>
          </a:xfrm>
          <a:prstGeom prst="rect">
            <a:avLst/>
          </a:prstGeom>
          <a:noFill/>
        </p:spPr>
        <p:txBody>
          <a:bodyPr wrap="square" lIns="45720" rIns="45720" anchor="t">
            <a:spAutoFit/>
          </a:bodyPr>
          <a:lstStyle/>
          <a:p>
            <a:pPr algn="l"/>
            <a:r>
              <a:rPr sz="900" b="1" i="0">
                <a:solidFill>
                  <a:srgbClr val="2DD4BF"/>
                </a:solidFill>
                <a:latin typeface="IBM Plex Mono"/>
              </a:rPr>
              <a:t>MCP</a:t>
            </a:r>
          </a:p>
        </p:txBody>
      </p:sp>
      <p:sp>
        <p:nvSpPr>
          <p:cNvPr id="33" name="TextBox 32"/>
          <p:cNvSpPr txBox="1"/>
          <p:nvPr/>
        </p:nvSpPr>
        <p:spPr>
          <a:xfrm>
            <a:off x="6309360" y="5440680"/>
            <a:ext cx="4846320" cy="182880"/>
          </a:xfrm>
          <a:prstGeom prst="rect">
            <a:avLst/>
          </a:prstGeom>
          <a:noFill/>
        </p:spPr>
        <p:txBody>
          <a:bodyPr wrap="square" lIns="45720" rIns="45720" anchor="t">
            <a:spAutoFit/>
          </a:bodyPr>
          <a:lstStyle/>
          <a:p>
            <a:pPr algn="l"/>
            <a:r>
              <a:rPr sz="1200" b="1" i="0" dirty="0">
                <a:solidFill>
                  <a:srgbClr val="E6EDF3"/>
                </a:solidFill>
                <a:latin typeface="IBM Plex Sans"/>
              </a:rPr>
              <a:t>Secure interface between agents and databases</a:t>
            </a:r>
          </a:p>
        </p:txBody>
      </p:sp>
      <p:sp>
        <p:nvSpPr>
          <p:cNvPr id="34" name="TextBox 33"/>
          <p:cNvSpPr txBox="1"/>
          <p:nvPr/>
        </p:nvSpPr>
        <p:spPr>
          <a:xfrm>
            <a:off x="566928" y="6519672"/>
            <a:ext cx="5852160" cy="164592"/>
          </a:xfrm>
          <a:prstGeom prst="rect">
            <a:avLst/>
          </a:prstGeom>
          <a:noFill/>
        </p:spPr>
        <p:txBody>
          <a:bodyPr wrap="square" lIns="45720" rIns="45720" anchor="t">
            <a:spAutoFit/>
          </a:bodyPr>
          <a:lstStyle/>
          <a:p>
            <a:pPr algn="l"/>
            <a:r>
              <a:rPr sz="900" b="0" i="0">
                <a:solidFill>
                  <a:srgbClr val="8B949E"/>
                </a:solidFill>
                <a:latin typeface="IBM Plex Mono"/>
              </a:rPr>
              <a:t>DATA PILOT AI  /  DECISION INTELLIGENCE</a:t>
            </a:r>
          </a:p>
        </p:txBody>
      </p:sp>
      <p:sp>
        <p:nvSpPr>
          <p:cNvPr id="35" name="TextBox 34"/>
          <p:cNvSpPr txBox="1"/>
          <p:nvPr/>
        </p:nvSpPr>
        <p:spPr>
          <a:xfrm>
            <a:off x="11201400" y="6501384"/>
            <a:ext cx="228600" cy="182880"/>
          </a:xfrm>
          <a:prstGeom prst="rect">
            <a:avLst/>
          </a:prstGeom>
          <a:noFill/>
        </p:spPr>
        <p:txBody>
          <a:bodyPr wrap="square" lIns="45720" rIns="45720" anchor="t">
            <a:spAutoFit/>
          </a:bodyPr>
          <a:lstStyle/>
          <a:p>
            <a:r>
              <a:rPr sz="900"/>
              <a:t>→</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2103120" cy="246221"/>
          </a:xfrm>
          <a:prstGeom prst="rect">
            <a:avLst/>
          </a:prstGeom>
          <a:noFill/>
        </p:spPr>
        <p:txBody>
          <a:bodyPr wrap="square" lIns="45720" rIns="45720" anchor="t">
            <a:spAutoFit/>
          </a:bodyPr>
          <a:lstStyle/>
          <a:p>
            <a:pPr algn="l"/>
            <a:r>
              <a:rPr sz="1000" b="0" i="0" dirty="0">
                <a:solidFill>
                  <a:srgbClr val="8B949E"/>
                </a:solidFill>
                <a:latin typeface="IBM Plex Mono"/>
              </a:rPr>
              <a:t>DATAPILOT AI  /  0</a:t>
            </a:r>
            <a:r>
              <a:rPr lang="en-IN" sz="1000" b="0" i="0" dirty="0">
                <a:solidFill>
                  <a:srgbClr val="8B949E"/>
                </a:solidFill>
                <a:latin typeface="IBM Plex Mono"/>
              </a:rPr>
              <a:t>6</a:t>
            </a:r>
            <a:endParaRPr sz="1000" b="0" i="0" dirty="0">
              <a:solidFill>
                <a:srgbClr val="8B949E"/>
              </a:solidFill>
              <a:latin typeface="IBM Plex Mono"/>
            </a:endParaRPr>
          </a:p>
        </p:txBody>
      </p:sp>
      <p:sp>
        <p:nvSpPr>
          <p:cNvPr id="6" name="Rectangle 5"/>
          <p:cNvSpPr/>
          <p:nvPr/>
        </p:nvSpPr>
        <p:spPr>
          <a:xfrm>
            <a:off x="502920" y="585216"/>
            <a:ext cx="11183112" cy="9144"/>
          </a:xfrm>
          <a:prstGeom prst="rect">
            <a:avLst/>
          </a:prstGeom>
          <a:solidFill>
            <a:srgbClr val="303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786384"/>
            <a:ext cx="7955279" cy="475488"/>
          </a:xfrm>
          <a:prstGeom prst="rect">
            <a:avLst/>
          </a:prstGeom>
          <a:noFill/>
        </p:spPr>
        <p:txBody>
          <a:bodyPr wrap="square" lIns="45720" rIns="45720" anchor="t">
            <a:spAutoFit/>
          </a:bodyPr>
          <a:lstStyle/>
          <a:p>
            <a:pPr algn="l"/>
            <a:r>
              <a:rPr sz="3000" b="1" i="0">
                <a:solidFill>
                  <a:srgbClr val="E6EDF3"/>
                </a:solidFill>
                <a:latin typeface="IBM Plex Sans"/>
              </a:rPr>
              <a:t>Data layer</a:t>
            </a:r>
          </a:p>
        </p:txBody>
      </p:sp>
      <p:sp>
        <p:nvSpPr>
          <p:cNvPr id="8" name="TextBox 7"/>
          <p:cNvSpPr txBox="1"/>
          <p:nvPr/>
        </p:nvSpPr>
        <p:spPr>
          <a:xfrm>
            <a:off x="585216" y="1298448"/>
            <a:ext cx="7955279" cy="347472"/>
          </a:xfrm>
          <a:prstGeom prst="rect">
            <a:avLst/>
          </a:prstGeom>
          <a:noFill/>
        </p:spPr>
        <p:txBody>
          <a:bodyPr wrap="square" lIns="45720" rIns="45720" anchor="t">
            <a:spAutoFit/>
          </a:bodyPr>
          <a:lstStyle/>
          <a:p>
            <a:pPr algn="l"/>
            <a:r>
              <a:rPr sz="1300" b="0" i="0">
                <a:solidFill>
                  <a:srgbClr val="8B949E"/>
                </a:solidFill>
                <a:latin typeface="IBM Plex Sans"/>
              </a:rPr>
              <a:t>Unchanged from the original design</a:t>
            </a:r>
          </a:p>
        </p:txBody>
      </p:sp>
      <p:sp>
        <p:nvSpPr>
          <p:cNvPr id="9" name="Rounded Rectangle 8"/>
          <p:cNvSpPr/>
          <p:nvPr/>
        </p:nvSpPr>
        <p:spPr>
          <a:xfrm>
            <a:off x="749808" y="1783080"/>
            <a:ext cx="3154680" cy="941832"/>
          </a:xfrm>
          <a:prstGeom prst="roundRect">
            <a:avLst/>
          </a:prstGeom>
          <a:solidFill>
            <a:srgbClr val="161B22"/>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59536" y="1920240"/>
            <a:ext cx="73152" cy="73152"/>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1856231"/>
            <a:ext cx="2807208" cy="256032"/>
          </a:xfrm>
          <a:prstGeom prst="rect">
            <a:avLst/>
          </a:prstGeom>
          <a:noFill/>
        </p:spPr>
        <p:txBody>
          <a:bodyPr wrap="square" lIns="45720" rIns="45720" anchor="ctr">
            <a:spAutoFit/>
          </a:bodyPr>
          <a:lstStyle/>
          <a:p>
            <a:pPr algn="l"/>
            <a:r>
              <a:rPr sz="1800" b="1" i="0">
                <a:solidFill>
                  <a:srgbClr val="E6EDF3"/>
                </a:solidFill>
                <a:latin typeface="IBM Plex Sans"/>
              </a:rPr>
              <a:t>DUCKDB</a:t>
            </a:r>
          </a:p>
        </p:txBody>
      </p:sp>
      <p:sp>
        <p:nvSpPr>
          <p:cNvPr id="12" name="TextBox 11"/>
          <p:cNvSpPr txBox="1"/>
          <p:nvPr/>
        </p:nvSpPr>
        <p:spPr>
          <a:xfrm>
            <a:off x="1005840" y="2167128"/>
            <a:ext cx="2807208" cy="502920"/>
          </a:xfrm>
          <a:prstGeom prst="rect">
            <a:avLst/>
          </a:prstGeom>
          <a:noFill/>
        </p:spPr>
        <p:txBody>
          <a:bodyPr wrap="square" lIns="45720" rIns="45720" anchor="t">
            <a:spAutoFit/>
          </a:bodyPr>
          <a:lstStyle/>
          <a:p>
            <a:pPr algn="l"/>
            <a:r>
              <a:rPr sz="1000" b="0" i="0">
                <a:solidFill>
                  <a:srgbClr val="8B949E"/>
                </a:solidFill>
                <a:latin typeface="IBM Plex Mono"/>
              </a:rPr>
              <a:t>No server to run, embeds directly in Python, very fast for ad-hoc aggregation.</a:t>
            </a:r>
          </a:p>
        </p:txBody>
      </p:sp>
      <p:sp>
        <p:nvSpPr>
          <p:cNvPr id="13" name="Rounded Rectangle 12"/>
          <p:cNvSpPr/>
          <p:nvPr/>
        </p:nvSpPr>
        <p:spPr>
          <a:xfrm>
            <a:off x="4517136" y="1783080"/>
            <a:ext cx="3154680" cy="941832"/>
          </a:xfrm>
          <a:prstGeom prst="roundRect">
            <a:avLst/>
          </a:prstGeom>
          <a:solidFill>
            <a:srgbClr val="161B22"/>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626864" y="1920240"/>
            <a:ext cx="73152" cy="7315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773168" y="1856231"/>
            <a:ext cx="2807208" cy="256032"/>
          </a:xfrm>
          <a:prstGeom prst="rect">
            <a:avLst/>
          </a:prstGeom>
          <a:noFill/>
        </p:spPr>
        <p:txBody>
          <a:bodyPr wrap="square" lIns="45720" rIns="45720" anchor="ctr">
            <a:spAutoFit/>
          </a:bodyPr>
          <a:lstStyle/>
          <a:p>
            <a:pPr algn="l"/>
            <a:r>
              <a:rPr sz="1800" b="1" i="0">
                <a:solidFill>
                  <a:srgbClr val="E6EDF3"/>
                </a:solidFill>
                <a:latin typeface="IBM Plex Sans"/>
              </a:rPr>
              <a:t>NEO4J</a:t>
            </a:r>
          </a:p>
        </p:txBody>
      </p:sp>
      <p:sp>
        <p:nvSpPr>
          <p:cNvPr id="16" name="TextBox 15"/>
          <p:cNvSpPr txBox="1"/>
          <p:nvPr/>
        </p:nvSpPr>
        <p:spPr>
          <a:xfrm>
            <a:off x="4773168" y="2167128"/>
            <a:ext cx="2807208" cy="502920"/>
          </a:xfrm>
          <a:prstGeom prst="rect">
            <a:avLst/>
          </a:prstGeom>
          <a:noFill/>
        </p:spPr>
        <p:txBody>
          <a:bodyPr wrap="square" lIns="45720" rIns="45720" anchor="t">
            <a:spAutoFit/>
          </a:bodyPr>
          <a:lstStyle/>
          <a:p>
            <a:pPr algn="l"/>
            <a:r>
              <a:rPr sz="1000" b="0" i="0">
                <a:solidFill>
                  <a:srgbClr val="8B949E"/>
                </a:solidFill>
                <a:latin typeface="IBM Plex Mono"/>
              </a:rPr>
              <a:t>Native graph model captures relationships a table can't.</a:t>
            </a:r>
          </a:p>
        </p:txBody>
      </p:sp>
      <p:sp>
        <p:nvSpPr>
          <p:cNvPr id="17" name="Rounded Rectangle 16"/>
          <p:cNvSpPr/>
          <p:nvPr/>
        </p:nvSpPr>
        <p:spPr>
          <a:xfrm>
            <a:off x="8284464" y="1783080"/>
            <a:ext cx="3154680" cy="941832"/>
          </a:xfrm>
          <a:prstGeom prst="roundRect">
            <a:avLst/>
          </a:prstGeom>
          <a:solidFill>
            <a:srgbClr val="161B22"/>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394192" y="1920240"/>
            <a:ext cx="73152" cy="73152"/>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540496" y="1856231"/>
            <a:ext cx="2807208" cy="256032"/>
          </a:xfrm>
          <a:prstGeom prst="rect">
            <a:avLst/>
          </a:prstGeom>
          <a:noFill/>
        </p:spPr>
        <p:txBody>
          <a:bodyPr wrap="square" lIns="45720" rIns="45720" anchor="ctr">
            <a:spAutoFit/>
          </a:bodyPr>
          <a:lstStyle/>
          <a:p>
            <a:pPr algn="l"/>
            <a:r>
              <a:rPr sz="1800" b="1" i="0">
                <a:solidFill>
                  <a:srgbClr val="E6EDF3"/>
                </a:solidFill>
                <a:latin typeface="IBM Plex Sans"/>
              </a:rPr>
              <a:t>REDIS</a:t>
            </a:r>
          </a:p>
        </p:txBody>
      </p:sp>
      <p:sp>
        <p:nvSpPr>
          <p:cNvPr id="20" name="TextBox 19"/>
          <p:cNvSpPr txBox="1"/>
          <p:nvPr/>
        </p:nvSpPr>
        <p:spPr>
          <a:xfrm>
            <a:off x="8540496" y="2167128"/>
            <a:ext cx="2807208" cy="502920"/>
          </a:xfrm>
          <a:prstGeom prst="rect">
            <a:avLst/>
          </a:prstGeom>
          <a:noFill/>
        </p:spPr>
        <p:txBody>
          <a:bodyPr wrap="square" lIns="45720" rIns="45720" anchor="t">
            <a:spAutoFit/>
          </a:bodyPr>
          <a:lstStyle/>
          <a:p>
            <a:pPr algn="l"/>
            <a:r>
              <a:rPr sz="1000" b="0" i="0">
                <a:solidFill>
                  <a:srgbClr val="8B949E"/>
                </a:solidFill>
                <a:latin typeface="IBM Plex Mono"/>
              </a:rPr>
              <a:t>In-memory, low latency.</a:t>
            </a:r>
          </a:p>
        </p:txBody>
      </p:sp>
      <p:cxnSp>
        <p:nvCxnSpPr>
          <p:cNvPr id="21" name="Connector 20"/>
          <p:cNvCxnSpPr/>
          <p:nvPr/>
        </p:nvCxnSpPr>
        <p:spPr>
          <a:xfrm>
            <a:off x="3931920" y="2258568"/>
            <a:ext cx="512064" cy="0"/>
          </a:xfrm>
          <a:prstGeom prst="line">
            <a:avLst/>
          </a:prstGeom>
          <a:ln w="17780">
            <a:solidFill>
              <a:srgbClr val="2DD4BF"/>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699248" y="2258568"/>
            <a:ext cx="512064" cy="0"/>
          </a:xfrm>
          <a:prstGeom prst="line">
            <a:avLst/>
          </a:prstGeom>
          <a:ln w="17780">
            <a:solidFill>
              <a:srgbClr val="2DD4BF"/>
            </a:solidFill>
          </a:ln>
        </p:spPr>
        <p:style>
          <a:lnRef idx="2">
            <a:schemeClr val="accent1"/>
          </a:lnRef>
          <a:fillRef idx="0">
            <a:schemeClr val="accent1"/>
          </a:fillRef>
          <a:effectRef idx="1">
            <a:schemeClr val="accent1"/>
          </a:effectRef>
          <a:fontRef idx="minor">
            <a:schemeClr val="tx1"/>
          </a:fontRef>
        </p:style>
      </p:cxnSp>
      <p:graphicFrame>
        <p:nvGraphicFramePr>
          <p:cNvPr id="23" name="Table 22"/>
          <p:cNvGraphicFramePr>
            <a:graphicFrameLocks noGrp="1"/>
          </p:cNvGraphicFramePr>
          <p:nvPr/>
        </p:nvGraphicFramePr>
        <p:xfrm>
          <a:off x="640080" y="3246120"/>
          <a:ext cx="10927080" cy="2286000"/>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gridCol w="3886200">
                  <a:extLst>
                    <a:ext uri="{9D8B030D-6E8A-4147-A177-3AD203B41FA5}">
                      <a16:colId xmlns:a16="http://schemas.microsoft.com/office/drawing/2014/main" val="20002"/>
                    </a:ext>
                  </a:extLst>
                </a:gridCol>
              </a:tblGrid>
              <a:tr h="571500">
                <a:tc>
                  <a:txBody>
                    <a:bodyPr/>
                    <a:lstStyle/>
                    <a:p>
                      <a:pPr algn="l"/>
                      <a:r>
                        <a:rPr sz="1000" b="1">
                          <a:solidFill>
                            <a:srgbClr val="2DD4BF"/>
                          </a:solidFill>
                          <a:latin typeface="IBM Plex Mono"/>
                        </a:rPr>
                        <a:t>Tool</a:t>
                      </a:r>
                    </a:p>
                  </a:txBody>
                  <a:tcPr marL="73152" marR="73152">
                    <a:solidFill>
                      <a:srgbClr val="30363D"/>
                    </a:solidFill>
                  </a:tcPr>
                </a:tc>
                <a:tc>
                  <a:txBody>
                    <a:bodyPr/>
                    <a:lstStyle/>
                    <a:p>
                      <a:pPr algn="l"/>
                      <a:r>
                        <a:rPr sz="1000" b="1">
                          <a:solidFill>
                            <a:srgbClr val="2DD4BF"/>
                          </a:solidFill>
                          <a:latin typeface="IBM Plex Mono"/>
                        </a:rPr>
                        <a:t>Why this tool</a:t>
                      </a:r>
                    </a:p>
                  </a:txBody>
                  <a:tcPr marL="73152" marR="73152">
                    <a:solidFill>
                      <a:srgbClr val="30363D"/>
                    </a:solidFill>
                  </a:tcPr>
                </a:tc>
                <a:tc>
                  <a:txBody>
                    <a:bodyPr/>
                    <a:lstStyle/>
                    <a:p>
                      <a:pPr algn="l"/>
                      <a:r>
                        <a:rPr sz="1000" b="1">
                          <a:solidFill>
                            <a:srgbClr val="2DD4BF"/>
                          </a:solidFill>
                          <a:latin typeface="IBM Plex Mono"/>
                        </a:rPr>
                        <a:t>What it handles</a:t>
                      </a:r>
                    </a:p>
                  </a:txBody>
                  <a:tcPr marL="73152" marR="73152">
                    <a:solidFill>
                      <a:srgbClr val="30363D"/>
                    </a:solidFill>
                  </a:tcPr>
                </a:tc>
                <a:extLst>
                  <a:ext uri="{0D108BD9-81ED-4DB2-BD59-A6C34878D82A}">
                    <a16:rowId xmlns:a16="http://schemas.microsoft.com/office/drawing/2014/main" val="10000"/>
                  </a:ext>
                </a:extLst>
              </a:tr>
              <a:tr h="571500">
                <a:tc>
                  <a:txBody>
                    <a:bodyPr/>
                    <a:lstStyle/>
                    <a:p>
                      <a:pPr algn="l"/>
                      <a:r>
                        <a:rPr sz="1100" b="1">
                          <a:solidFill>
                            <a:srgbClr val="E6EDF3"/>
                          </a:solidFill>
                          <a:latin typeface="IBM Plex Sans"/>
                        </a:rPr>
                        <a:t>DuckDB</a:t>
                      </a:r>
                    </a:p>
                  </a:txBody>
                  <a:tcPr marL="73152" marR="73152">
                    <a:solidFill>
                      <a:srgbClr val="161B22"/>
                    </a:solidFill>
                  </a:tcPr>
                </a:tc>
                <a:tc>
                  <a:txBody>
                    <a:bodyPr/>
                    <a:lstStyle/>
                    <a:p>
                      <a:pPr algn="l"/>
                      <a:r>
                        <a:rPr sz="1100" b="0">
                          <a:solidFill>
                            <a:srgbClr val="8B949E"/>
                          </a:solidFill>
                          <a:latin typeface="IBM Plex Sans"/>
                        </a:rPr>
                        <a:t>No server to run, embeds directly in Python, very fast for ad-hoc aggregation.</a:t>
                      </a:r>
                    </a:p>
                  </a:txBody>
                  <a:tcPr marL="73152" marR="73152">
                    <a:solidFill>
                      <a:srgbClr val="161B22"/>
                    </a:solidFill>
                  </a:tcPr>
                </a:tc>
                <a:tc>
                  <a:txBody>
                    <a:bodyPr/>
                    <a:lstStyle/>
                    <a:p>
                      <a:pPr algn="l"/>
                      <a:r>
                        <a:rPr sz="1100" b="0">
                          <a:solidFill>
                            <a:srgbClr val="8B949E"/>
                          </a:solidFill>
                          <a:latin typeface="IBM Plex Sans"/>
                        </a:rPr>
                        <a:t>In-process OLAP / analytical queries</a:t>
                      </a:r>
                    </a:p>
                  </a:txBody>
                  <a:tcPr marL="73152" marR="73152">
                    <a:solidFill>
                      <a:srgbClr val="161B22"/>
                    </a:solidFill>
                  </a:tcPr>
                </a:tc>
                <a:extLst>
                  <a:ext uri="{0D108BD9-81ED-4DB2-BD59-A6C34878D82A}">
                    <a16:rowId xmlns:a16="http://schemas.microsoft.com/office/drawing/2014/main" val="10001"/>
                  </a:ext>
                </a:extLst>
              </a:tr>
              <a:tr h="571500">
                <a:tc>
                  <a:txBody>
                    <a:bodyPr/>
                    <a:lstStyle/>
                    <a:p>
                      <a:pPr algn="l"/>
                      <a:r>
                        <a:rPr sz="1100" b="1">
                          <a:solidFill>
                            <a:srgbClr val="E6EDF3"/>
                          </a:solidFill>
                          <a:latin typeface="IBM Plex Sans"/>
                        </a:rPr>
                        <a:t>Neo4j</a:t>
                      </a:r>
                    </a:p>
                  </a:txBody>
                  <a:tcPr marL="73152" marR="73152">
                    <a:solidFill>
                      <a:srgbClr val="161B22"/>
                    </a:solidFill>
                  </a:tcPr>
                </a:tc>
                <a:tc>
                  <a:txBody>
                    <a:bodyPr/>
                    <a:lstStyle/>
                    <a:p>
                      <a:pPr algn="l"/>
                      <a:r>
                        <a:rPr sz="1100" b="0">
                          <a:solidFill>
                            <a:srgbClr val="8B949E"/>
                          </a:solidFill>
                          <a:latin typeface="IBM Plex Sans"/>
                        </a:rPr>
                        <a:t>Native graph model captures relationships a table can't.</a:t>
                      </a:r>
                    </a:p>
                  </a:txBody>
                  <a:tcPr marL="73152" marR="73152">
                    <a:solidFill>
                      <a:srgbClr val="161B22"/>
                    </a:solidFill>
                  </a:tcPr>
                </a:tc>
                <a:tc>
                  <a:txBody>
                    <a:bodyPr/>
                    <a:lstStyle/>
                    <a:p>
                      <a:pPr algn="l"/>
                      <a:r>
                        <a:rPr sz="1100" b="0">
                          <a:solidFill>
                            <a:srgbClr val="8B949E"/>
                          </a:solidFill>
                          <a:latin typeface="IBM Plex Sans"/>
                        </a:rPr>
                        <a:t>Semantic memory across agent turns</a:t>
                      </a:r>
                    </a:p>
                  </a:txBody>
                  <a:tcPr marL="73152" marR="73152">
                    <a:solidFill>
                      <a:srgbClr val="161B22"/>
                    </a:solidFill>
                  </a:tcPr>
                </a:tc>
                <a:extLst>
                  <a:ext uri="{0D108BD9-81ED-4DB2-BD59-A6C34878D82A}">
                    <a16:rowId xmlns:a16="http://schemas.microsoft.com/office/drawing/2014/main" val="10002"/>
                  </a:ext>
                </a:extLst>
              </a:tr>
              <a:tr h="571500">
                <a:tc>
                  <a:txBody>
                    <a:bodyPr/>
                    <a:lstStyle/>
                    <a:p>
                      <a:pPr algn="l"/>
                      <a:r>
                        <a:rPr sz="1100" b="1">
                          <a:solidFill>
                            <a:srgbClr val="E6EDF3"/>
                          </a:solidFill>
                          <a:latin typeface="IBM Plex Sans"/>
                        </a:rPr>
                        <a:t>Redis</a:t>
                      </a:r>
                    </a:p>
                  </a:txBody>
                  <a:tcPr marL="73152" marR="73152">
                    <a:solidFill>
                      <a:srgbClr val="161B22"/>
                    </a:solidFill>
                  </a:tcPr>
                </a:tc>
                <a:tc>
                  <a:txBody>
                    <a:bodyPr/>
                    <a:lstStyle/>
                    <a:p>
                      <a:pPr algn="l"/>
                      <a:r>
                        <a:rPr sz="1100" b="0">
                          <a:solidFill>
                            <a:srgbClr val="8B949E"/>
                          </a:solidFill>
                          <a:latin typeface="IBM Plex Sans"/>
                        </a:rPr>
                        <a:t>In-memory, low latency.</a:t>
                      </a:r>
                    </a:p>
                  </a:txBody>
                  <a:tcPr marL="73152" marR="73152">
                    <a:solidFill>
                      <a:srgbClr val="161B22"/>
                    </a:solidFill>
                  </a:tcPr>
                </a:tc>
                <a:tc>
                  <a:txBody>
                    <a:bodyPr/>
                    <a:lstStyle/>
                    <a:p>
                      <a:pPr algn="l"/>
                      <a:r>
                        <a:rPr sz="1100" b="0">
                          <a:solidFill>
                            <a:srgbClr val="8B949E"/>
                          </a:solidFill>
                          <a:latin typeface="IBM Plex Sans"/>
                        </a:rPr>
                        <a:t>Caching and inter-agent messaging</a:t>
                      </a:r>
                    </a:p>
                  </a:txBody>
                  <a:tcPr marL="73152" marR="73152">
                    <a:solidFill>
                      <a:srgbClr val="161B22"/>
                    </a:solidFill>
                  </a:tcPr>
                </a:tc>
                <a:extLst>
                  <a:ext uri="{0D108BD9-81ED-4DB2-BD59-A6C34878D82A}">
                    <a16:rowId xmlns:a16="http://schemas.microsoft.com/office/drawing/2014/main" val="10003"/>
                  </a:ext>
                </a:extLst>
              </a:tr>
            </a:tbl>
          </a:graphicData>
        </a:graphic>
      </p:graphicFrame>
      <p:sp>
        <p:nvSpPr>
          <p:cNvPr id="32" name="TextBox 31"/>
          <p:cNvSpPr txBox="1"/>
          <p:nvPr/>
        </p:nvSpPr>
        <p:spPr>
          <a:xfrm>
            <a:off x="566928" y="6519672"/>
            <a:ext cx="5852160" cy="164592"/>
          </a:xfrm>
          <a:prstGeom prst="rect">
            <a:avLst/>
          </a:prstGeom>
          <a:noFill/>
        </p:spPr>
        <p:txBody>
          <a:bodyPr wrap="square" lIns="45720" rIns="45720" anchor="t">
            <a:spAutoFit/>
          </a:bodyPr>
          <a:lstStyle/>
          <a:p>
            <a:pPr algn="l"/>
            <a:r>
              <a:rPr sz="900" b="0" i="0">
                <a:solidFill>
                  <a:srgbClr val="8B949E"/>
                </a:solidFill>
                <a:latin typeface="IBM Plex Mono"/>
              </a:rPr>
              <a:t>DATA PILOT AI  /  DECISION INTELLIGENCE</a:t>
            </a:r>
          </a:p>
        </p:txBody>
      </p:sp>
      <p:sp>
        <p:nvSpPr>
          <p:cNvPr id="33" name="TextBox 32"/>
          <p:cNvSpPr txBox="1"/>
          <p:nvPr/>
        </p:nvSpPr>
        <p:spPr>
          <a:xfrm>
            <a:off x="11201400" y="6501384"/>
            <a:ext cx="228600" cy="182880"/>
          </a:xfrm>
          <a:prstGeom prst="rect">
            <a:avLst/>
          </a:prstGeom>
          <a:noFill/>
        </p:spPr>
        <p:txBody>
          <a:bodyPr wrap="square" lIns="45720" rIns="45720" anchor="t">
            <a:spAutoFit/>
          </a:bodyPr>
          <a:lstStyle/>
          <a:p>
            <a:r>
              <a:rPr sz="900"/>
              <a:t>→</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2103120" cy="246221"/>
          </a:xfrm>
          <a:prstGeom prst="rect">
            <a:avLst/>
          </a:prstGeom>
          <a:noFill/>
        </p:spPr>
        <p:txBody>
          <a:bodyPr wrap="square" lIns="45720" rIns="45720" anchor="t">
            <a:spAutoFit/>
          </a:bodyPr>
          <a:lstStyle/>
          <a:p>
            <a:pPr algn="l"/>
            <a:r>
              <a:rPr sz="1000" b="0" i="0" dirty="0">
                <a:solidFill>
                  <a:srgbClr val="8B949E"/>
                </a:solidFill>
                <a:latin typeface="IBM Plex Mono"/>
              </a:rPr>
              <a:t>DATAPILOT AI  /  0</a:t>
            </a:r>
            <a:r>
              <a:rPr lang="en-IN" sz="1000" b="0" i="0" dirty="0">
                <a:solidFill>
                  <a:srgbClr val="8B949E"/>
                </a:solidFill>
                <a:latin typeface="IBM Plex Mono"/>
              </a:rPr>
              <a:t>7</a:t>
            </a:r>
            <a:endParaRPr sz="1000" b="0" i="0" dirty="0">
              <a:solidFill>
                <a:srgbClr val="8B949E"/>
              </a:solidFill>
              <a:latin typeface="IBM Plex Mono"/>
            </a:endParaRPr>
          </a:p>
        </p:txBody>
      </p:sp>
      <p:sp>
        <p:nvSpPr>
          <p:cNvPr id="6" name="Rectangle 5"/>
          <p:cNvSpPr/>
          <p:nvPr/>
        </p:nvSpPr>
        <p:spPr>
          <a:xfrm>
            <a:off x="502920" y="585216"/>
            <a:ext cx="11183112" cy="9144"/>
          </a:xfrm>
          <a:prstGeom prst="rect">
            <a:avLst/>
          </a:prstGeom>
          <a:solidFill>
            <a:srgbClr val="303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786384"/>
            <a:ext cx="7955279" cy="475488"/>
          </a:xfrm>
          <a:prstGeom prst="rect">
            <a:avLst/>
          </a:prstGeom>
          <a:noFill/>
        </p:spPr>
        <p:txBody>
          <a:bodyPr wrap="square" lIns="45720" rIns="45720" anchor="t">
            <a:spAutoFit/>
          </a:bodyPr>
          <a:lstStyle/>
          <a:p>
            <a:pPr algn="l"/>
            <a:r>
              <a:rPr sz="3000" b="1" i="0">
                <a:solidFill>
                  <a:srgbClr val="E6EDF3"/>
                </a:solidFill>
                <a:latin typeface="IBM Plex Sans"/>
              </a:rPr>
              <a:t>Automation &amp; observability</a:t>
            </a:r>
          </a:p>
        </p:txBody>
      </p:sp>
      <p:sp>
        <p:nvSpPr>
          <p:cNvPr id="8" name="TextBox 7"/>
          <p:cNvSpPr txBox="1"/>
          <p:nvPr/>
        </p:nvSpPr>
        <p:spPr>
          <a:xfrm>
            <a:off x="585216" y="1298448"/>
            <a:ext cx="7955279" cy="347472"/>
          </a:xfrm>
          <a:prstGeom prst="rect">
            <a:avLst/>
          </a:prstGeom>
          <a:noFill/>
        </p:spPr>
        <p:txBody>
          <a:bodyPr wrap="square" lIns="45720" rIns="45720" anchor="t">
            <a:spAutoFit/>
          </a:bodyPr>
          <a:lstStyle/>
          <a:p>
            <a:pPr algn="l"/>
            <a:r>
              <a:rPr sz="1300" b="0" i="0" dirty="0">
                <a:solidFill>
                  <a:srgbClr val="8B949E"/>
                </a:solidFill>
                <a:latin typeface="IBM Plex Sans"/>
              </a:rPr>
              <a:t>Unchanged from the original design</a:t>
            </a:r>
          </a:p>
        </p:txBody>
      </p:sp>
      <p:sp>
        <p:nvSpPr>
          <p:cNvPr id="9" name="Rounded Rectangle 8"/>
          <p:cNvSpPr/>
          <p:nvPr/>
        </p:nvSpPr>
        <p:spPr>
          <a:xfrm>
            <a:off x="658368" y="1737360"/>
            <a:ext cx="10881360" cy="1051560"/>
          </a:xfrm>
          <a:prstGeom prst="roundRect">
            <a:avLst/>
          </a:prstGeom>
          <a:solidFill>
            <a:srgbClr val="161B22"/>
          </a:solidFill>
          <a:ln w="1016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59" y="1847088"/>
            <a:ext cx="10552176" cy="182880"/>
          </a:xfrm>
          <a:prstGeom prst="rect">
            <a:avLst/>
          </a:prstGeom>
          <a:noFill/>
        </p:spPr>
        <p:txBody>
          <a:bodyPr wrap="square" lIns="45720" rIns="45720" anchor="t">
            <a:spAutoFit/>
          </a:bodyPr>
          <a:lstStyle/>
          <a:p>
            <a:pPr algn="l"/>
            <a:r>
              <a:rPr sz="900" b="1" i="0">
                <a:solidFill>
                  <a:srgbClr val="2DD4BF"/>
                </a:solidFill>
                <a:latin typeface="IBM Plex Mono"/>
              </a:rPr>
              <a:t>MONITORING FLOW</a:t>
            </a:r>
          </a:p>
        </p:txBody>
      </p:sp>
      <p:sp>
        <p:nvSpPr>
          <p:cNvPr id="11" name="Rounded Rectangle 10"/>
          <p:cNvSpPr/>
          <p:nvPr/>
        </p:nvSpPr>
        <p:spPr>
          <a:xfrm>
            <a:off x="1005840" y="2084831"/>
            <a:ext cx="1828800" cy="475488"/>
          </a:xfrm>
          <a:prstGeom prst="roundRect">
            <a:avLst/>
          </a:prstGeom>
          <a:solidFill>
            <a:srgbClr val="161B22"/>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115568" y="2221991"/>
            <a:ext cx="73152" cy="73152"/>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61872" y="2157984"/>
            <a:ext cx="1481328" cy="256032"/>
          </a:xfrm>
          <a:prstGeom prst="rect">
            <a:avLst/>
          </a:prstGeom>
          <a:noFill/>
        </p:spPr>
        <p:txBody>
          <a:bodyPr wrap="square" lIns="45720" rIns="45720" anchor="ctr">
            <a:spAutoFit/>
          </a:bodyPr>
          <a:lstStyle/>
          <a:p>
            <a:pPr algn="l"/>
            <a:r>
              <a:rPr sz="1500" b="1" i="0">
                <a:solidFill>
                  <a:srgbClr val="E6EDF3"/>
                </a:solidFill>
                <a:latin typeface="IBM Plex Sans"/>
              </a:rPr>
              <a:t>n8n</a:t>
            </a:r>
          </a:p>
        </p:txBody>
      </p:sp>
      <p:sp>
        <p:nvSpPr>
          <p:cNvPr id="14" name="TextBox 13"/>
          <p:cNvSpPr txBox="1"/>
          <p:nvPr/>
        </p:nvSpPr>
        <p:spPr>
          <a:xfrm>
            <a:off x="1243584" y="2395727"/>
            <a:ext cx="1481328" cy="164592"/>
          </a:xfrm>
          <a:prstGeom prst="rect">
            <a:avLst/>
          </a:prstGeom>
          <a:noFill/>
        </p:spPr>
        <p:txBody>
          <a:bodyPr wrap="square" lIns="18288" tIns="18288" rIns="18288" bIns="18288" anchor="t">
            <a:spAutoFit/>
          </a:bodyPr>
          <a:lstStyle/>
          <a:p>
            <a:pPr algn="l"/>
            <a:r>
              <a:rPr sz="750" b="0" i="0">
                <a:solidFill>
                  <a:srgbClr val="8B949E"/>
                </a:solidFill>
                <a:latin typeface="IBM Plex Mono"/>
              </a:rPr>
              <a:t>Low-code alert workflows</a:t>
            </a:r>
          </a:p>
        </p:txBody>
      </p:sp>
      <p:sp>
        <p:nvSpPr>
          <p:cNvPr id="15" name="Rounded Rectangle 14"/>
          <p:cNvSpPr/>
          <p:nvPr/>
        </p:nvSpPr>
        <p:spPr>
          <a:xfrm>
            <a:off x="3977639" y="2084831"/>
            <a:ext cx="1828800" cy="475488"/>
          </a:xfrm>
          <a:prstGeom prst="roundRect">
            <a:avLst/>
          </a:prstGeom>
          <a:solidFill>
            <a:srgbClr val="161B22"/>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087368" y="2221991"/>
            <a:ext cx="73152" cy="73152"/>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233672" y="2157984"/>
            <a:ext cx="1481328" cy="256032"/>
          </a:xfrm>
          <a:prstGeom prst="rect">
            <a:avLst/>
          </a:prstGeom>
          <a:noFill/>
        </p:spPr>
        <p:txBody>
          <a:bodyPr wrap="square" lIns="45720" rIns="45720" anchor="ctr">
            <a:spAutoFit/>
          </a:bodyPr>
          <a:lstStyle/>
          <a:p>
            <a:pPr algn="l"/>
            <a:r>
              <a:rPr sz="1500" b="1" i="0">
                <a:solidFill>
                  <a:srgbClr val="E6EDF3"/>
                </a:solidFill>
                <a:latin typeface="IBM Plex Sans"/>
              </a:rPr>
              <a:t>Prometheus</a:t>
            </a:r>
          </a:p>
        </p:txBody>
      </p:sp>
      <p:sp>
        <p:nvSpPr>
          <p:cNvPr id="18" name="TextBox 17"/>
          <p:cNvSpPr txBox="1"/>
          <p:nvPr/>
        </p:nvSpPr>
        <p:spPr>
          <a:xfrm>
            <a:off x="4279392" y="2386583"/>
            <a:ext cx="1481328" cy="164592"/>
          </a:xfrm>
          <a:prstGeom prst="rect">
            <a:avLst/>
          </a:prstGeom>
          <a:noFill/>
        </p:spPr>
        <p:txBody>
          <a:bodyPr wrap="square" lIns="18288" tIns="18288" rIns="18288" bIns="18288" anchor="t">
            <a:spAutoFit/>
          </a:bodyPr>
          <a:lstStyle/>
          <a:p>
            <a:pPr algn="l"/>
            <a:r>
              <a:rPr sz="750" b="0" i="0">
                <a:solidFill>
                  <a:srgbClr val="8B949E"/>
                </a:solidFill>
                <a:latin typeface="IBM Plex Mono"/>
              </a:rPr>
              <a:t>Time-series metrics</a:t>
            </a:r>
          </a:p>
        </p:txBody>
      </p:sp>
      <p:sp>
        <p:nvSpPr>
          <p:cNvPr id="19" name="Rounded Rectangle 18"/>
          <p:cNvSpPr/>
          <p:nvPr/>
        </p:nvSpPr>
        <p:spPr>
          <a:xfrm>
            <a:off x="6949440" y="2084831"/>
            <a:ext cx="1828800" cy="475488"/>
          </a:xfrm>
          <a:prstGeom prst="roundRect">
            <a:avLst/>
          </a:prstGeom>
          <a:solidFill>
            <a:srgbClr val="161B22"/>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059168" y="2221991"/>
            <a:ext cx="73152" cy="7315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205472" y="2157984"/>
            <a:ext cx="1481328" cy="256032"/>
          </a:xfrm>
          <a:prstGeom prst="rect">
            <a:avLst/>
          </a:prstGeom>
          <a:noFill/>
        </p:spPr>
        <p:txBody>
          <a:bodyPr wrap="square" lIns="45720" rIns="45720" anchor="ctr">
            <a:spAutoFit/>
          </a:bodyPr>
          <a:lstStyle/>
          <a:p>
            <a:pPr algn="l"/>
            <a:r>
              <a:rPr sz="1500" b="1" i="0">
                <a:solidFill>
                  <a:srgbClr val="E6EDF3"/>
                </a:solidFill>
                <a:latin typeface="IBM Plex Sans"/>
              </a:rPr>
              <a:t>Grafana</a:t>
            </a:r>
          </a:p>
        </p:txBody>
      </p:sp>
      <p:sp>
        <p:nvSpPr>
          <p:cNvPr id="22" name="TextBox 21"/>
          <p:cNvSpPr txBox="1"/>
          <p:nvPr/>
        </p:nvSpPr>
        <p:spPr>
          <a:xfrm>
            <a:off x="7251192" y="2363724"/>
            <a:ext cx="1481328" cy="164592"/>
          </a:xfrm>
          <a:prstGeom prst="rect">
            <a:avLst/>
          </a:prstGeom>
          <a:noFill/>
        </p:spPr>
        <p:txBody>
          <a:bodyPr wrap="square" lIns="18288" tIns="18288" rIns="18288" bIns="18288" anchor="t">
            <a:spAutoFit/>
          </a:bodyPr>
          <a:lstStyle/>
          <a:p>
            <a:pPr algn="l"/>
            <a:r>
              <a:rPr sz="750" b="0" i="0" dirty="0">
                <a:solidFill>
                  <a:srgbClr val="8B949E"/>
                </a:solidFill>
                <a:latin typeface="IBM Plex Mono"/>
              </a:rPr>
              <a:t>Readable dashboards</a:t>
            </a:r>
          </a:p>
        </p:txBody>
      </p:sp>
      <p:cxnSp>
        <p:nvCxnSpPr>
          <p:cNvPr id="23" name="Connector 22"/>
          <p:cNvCxnSpPr/>
          <p:nvPr/>
        </p:nvCxnSpPr>
        <p:spPr>
          <a:xfrm>
            <a:off x="2880360" y="2322576"/>
            <a:ext cx="1033272" cy="0"/>
          </a:xfrm>
          <a:prstGeom prst="line">
            <a:avLst/>
          </a:prstGeom>
          <a:ln w="19050">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852160" y="2322576"/>
            <a:ext cx="1033272" cy="0"/>
          </a:xfrm>
          <a:prstGeom prst="line">
            <a:avLst/>
          </a:prstGeom>
          <a:ln w="19050">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9326880" y="2450592"/>
            <a:ext cx="1691640" cy="9144"/>
          </a:xfrm>
          <a:prstGeom prst="rect">
            <a:avLst/>
          </a:prstGeom>
          <a:solidFill>
            <a:srgbClr val="303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6" name="Connector 25"/>
          <p:cNvCxnSpPr/>
          <p:nvPr/>
        </p:nvCxnSpPr>
        <p:spPr>
          <a:xfrm flipV="1">
            <a:off x="9326880" y="2296058"/>
            <a:ext cx="241662" cy="69952"/>
          </a:xfrm>
          <a:prstGeom prst="line">
            <a:avLst/>
          </a:prstGeom>
          <a:ln w="15240">
            <a:solidFill>
              <a:srgbClr val="2DD4BF"/>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568542" y="2296058"/>
            <a:ext cx="241663" cy="32918"/>
          </a:xfrm>
          <a:prstGeom prst="line">
            <a:avLst/>
          </a:prstGeom>
          <a:ln w="15240">
            <a:solidFill>
              <a:srgbClr val="2DD4BF"/>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9810205" y="2213762"/>
            <a:ext cx="241663" cy="115214"/>
          </a:xfrm>
          <a:prstGeom prst="line">
            <a:avLst/>
          </a:prstGeom>
          <a:ln w="15240">
            <a:solidFill>
              <a:srgbClr val="2DD4B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0051868" y="2213762"/>
            <a:ext cx="241663" cy="24689"/>
          </a:xfrm>
          <a:prstGeom prst="line">
            <a:avLst/>
          </a:prstGeom>
          <a:ln w="15240">
            <a:solidFill>
              <a:srgbClr val="2DD4BF"/>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10293531" y="2164384"/>
            <a:ext cx="241663" cy="74067"/>
          </a:xfrm>
          <a:prstGeom prst="line">
            <a:avLst/>
          </a:prstGeom>
          <a:ln w="15240">
            <a:solidFill>
              <a:srgbClr val="2DD4B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535194" y="2164384"/>
            <a:ext cx="241663" cy="24689"/>
          </a:xfrm>
          <a:prstGeom prst="line">
            <a:avLst/>
          </a:prstGeom>
          <a:ln w="15240">
            <a:solidFill>
              <a:srgbClr val="2DD4B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10776857" y="2098548"/>
            <a:ext cx="241662" cy="90525"/>
          </a:xfrm>
          <a:prstGeom prst="line">
            <a:avLst/>
          </a:prstGeom>
          <a:ln w="15240">
            <a:solidFill>
              <a:srgbClr val="2DD4BF"/>
            </a:solidFill>
          </a:ln>
        </p:spPr>
        <p:style>
          <a:lnRef idx="2">
            <a:schemeClr val="accent1"/>
          </a:lnRef>
          <a:fillRef idx="0">
            <a:schemeClr val="accent1"/>
          </a:fillRef>
          <a:effectRef idx="1">
            <a:schemeClr val="accent1"/>
          </a:effectRef>
          <a:fontRef idx="minor">
            <a:schemeClr val="tx1"/>
          </a:fontRef>
        </p:style>
      </p:cxnSp>
      <p:graphicFrame>
        <p:nvGraphicFramePr>
          <p:cNvPr id="33" name="Table 32"/>
          <p:cNvGraphicFramePr>
            <a:graphicFrameLocks noGrp="1"/>
          </p:cNvGraphicFramePr>
          <p:nvPr/>
        </p:nvGraphicFramePr>
        <p:xfrm>
          <a:off x="640080" y="3246120"/>
          <a:ext cx="10927080" cy="2286000"/>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gridCol w="3886200">
                  <a:extLst>
                    <a:ext uri="{9D8B030D-6E8A-4147-A177-3AD203B41FA5}">
                      <a16:colId xmlns:a16="http://schemas.microsoft.com/office/drawing/2014/main" val="20002"/>
                    </a:ext>
                  </a:extLst>
                </a:gridCol>
              </a:tblGrid>
              <a:tr h="571500">
                <a:tc>
                  <a:txBody>
                    <a:bodyPr/>
                    <a:lstStyle/>
                    <a:p>
                      <a:pPr algn="l"/>
                      <a:r>
                        <a:rPr sz="1000" b="1">
                          <a:solidFill>
                            <a:srgbClr val="2DD4BF"/>
                          </a:solidFill>
                          <a:latin typeface="IBM Plex Mono"/>
                        </a:rPr>
                        <a:t>Tool</a:t>
                      </a:r>
                    </a:p>
                  </a:txBody>
                  <a:tcPr marL="73152" marR="73152">
                    <a:solidFill>
                      <a:srgbClr val="30363D"/>
                    </a:solidFill>
                  </a:tcPr>
                </a:tc>
                <a:tc>
                  <a:txBody>
                    <a:bodyPr/>
                    <a:lstStyle/>
                    <a:p>
                      <a:pPr algn="l"/>
                      <a:r>
                        <a:rPr sz="1000" b="1">
                          <a:solidFill>
                            <a:srgbClr val="2DD4BF"/>
                          </a:solidFill>
                          <a:latin typeface="IBM Plex Mono"/>
                        </a:rPr>
                        <a:t>Why this tool</a:t>
                      </a:r>
                    </a:p>
                  </a:txBody>
                  <a:tcPr marL="73152" marR="73152">
                    <a:solidFill>
                      <a:srgbClr val="30363D"/>
                    </a:solidFill>
                  </a:tcPr>
                </a:tc>
                <a:tc>
                  <a:txBody>
                    <a:bodyPr/>
                    <a:lstStyle/>
                    <a:p>
                      <a:pPr algn="l"/>
                      <a:r>
                        <a:rPr sz="1000" b="1">
                          <a:solidFill>
                            <a:srgbClr val="2DD4BF"/>
                          </a:solidFill>
                          <a:latin typeface="IBM Plex Mono"/>
                        </a:rPr>
                        <a:t>What it handles</a:t>
                      </a:r>
                    </a:p>
                  </a:txBody>
                  <a:tcPr marL="73152" marR="73152">
                    <a:solidFill>
                      <a:srgbClr val="30363D"/>
                    </a:solidFill>
                  </a:tcPr>
                </a:tc>
                <a:extLst>
                  <a:ext uri="{0D108BD9-81ED-4DB2-BD59-A6C34878D82A}">
                    <a16:rowId xmlns:a16="http://schemas.microsoft.com/office/drawing/2014/main" val="10000"/>
                  </a:ext>
                </a:extLst>
              </a:tr>
              <a:tr h="571500">
                <a:tc>
                  <a:txBody>
                    <a:bodyPr/>
                    <a:lstStyle/>
                    <a:p>
                      <a:pPr algn="l"/>
                      <a:r>
                        <a:rPr sz="1100" b="1">
                          <a:solidFill>
                            <a:srgbClr val="E6EDF3"/>
                          </a:solidFill>
                          <a:latin typeface="IBM Plex Sans"/>
                        </a:rPr>
                        <a:t>n8n</a:t>
                      </a:r>
                    </a:p>
                  </a:txBody>
                  <a:tcPr marL="73152" marR="73152">
                    <a:solidFill>
                      <a:srgbClr val="161B22"/>
                    </a:solidFill>
                  </a:tcPr>
                </a:tc>
                <a:tc>
                  <a:txBody>
                    <a:bodyPr/>
                    <a:lstStyle/>
                    <a:p>
                      <a:pPr algn="l"/>
                      <a:r>
                        <a:rPr sz="1100" b="0">
                          <a:solidFill>
                            <a:srgbClr val="8B949E"/>
                          </a:solidFill>
                          <a:latin typeface="IBM Plex Sans"/>
                        </a:rPr>
                        <a:t>Low-code, so alert workflows don't need custom glue code.</a:t>
                      </a:r>
                    </a:p>
                  </a:txBody>
                  <a:tcPr marL="73152" marR="73152">
                    <a:solidFill>
                      <a:srgbClr val="161B22"/>
                    </a:solidFill>
                  </a:tcPr>
                </a:tc>
                <a:tc>
                  <a:txBody>
                    <a:bodyPr/>
                    <a:lstStyle/>
                    <a:p>
                      <a:pPr algn="l"/>
                      <a:r>
                        <a:rPr sz="1100" b="0">
                          <a:solidFill>
                            <a:srgbClr val="8B949E"/>
                          </a:solidFill>
                          <a:latin typeface="IBM Plex Sans"/>
                        </a:rPr>
                        <a:t>Routes alerts, e.g. anomaly ? notification</a:t>
                      </a:r>
                    </a:p>
                  </a:txBody>
                  <a:tcPr marL="73152" marR="73152">
                    <a:solidFill>
                      <a:srgbClr val="161B22"/>
                    </a:solidFill>
                  </a:tcPr>
                </a:tc>
                <a:extLst>
                  <a:ext uri="{0D108BD9-81ED-4DB2-BD59-A6C34878D82A}">
                    <a16:rowId xmlns:a16="http://schemas.microsoft.com/office/drawing/2014/main" val="10001"/>
                  </a:ext>
                </a:extLst>
              </a:tr>
              <a:tr h="571500">
                <a:tc>
                  <a:txBody>
                    <a:bodyPr/>
                    <a:lstStyle/>
                    <a:p>
                      <a:pPr algn="l"/>
                      <a:r>
                        <a:rPr sz="1100" b="1">
                          <a:solidFill>
                            <a:srgbClr val="E6EDF3"/>
                          </a:solidFill>
                          <a:latin typeface="IBM Plex Sans"/>
                        </a:rPr>
                        <a:t>Prometheus</a:t>
                      </a:r>
                    </a:p>
                  </a:txBody>
                  <a:tcPr marL="73152" marR="73152">
                    <a:solidFill>
                      <a:srgbClr val="161B22"/>
                    </a:solidFill>
                  </a:tcPr>
                </a:tc>
                <a:tc>
                  <a:txBody>
                    <a:bodyPr/>
                    <a:lstStyle/>
                    <a:p>
                      <a:pPr algn="l"/>
                      <a:r>
                        <a:rPr sz="1100" b="0">
                          <a:solidFill>
                            <a:srgbClr val="8B949E"/>
                          </a:solidFill>
                          <a:latin typeface="IBM Plex Sans"/>
                        </a:rPr>
                        <a:t>Standard for time-series metrics collection.</a:t>
                      </a:r>
                    </a:p>
                  </a:txBody>
                  <a:tcPr marL="73152" marR="73152">
                    <a:solidFill>
                      <a:srgbClr val="161B22"/>
                    </a:solidFill>
                  </a:tcPr>
                </a:tc>
                <a:tc>
                  <a:txBody>
                    <a:bodyPr/>
                    <a:lstStyle/>
                    <a:p>
                      <a:pPr algn="l"/>
                      <a:r>
                        <a:rPr sz="1100" b="0">
                          <a:solidFill>
                            <a:srgbClr val="8B949E"/>
                          </a:solidFill>
                          <a:latin typeface="IBM Plex Sans"/>
                        </a:rPr>
                        <a:t>Tracks pipeline performance over time</a:t>
                      </a:r>
                    </a:p>
                  </a:txBody>
                  <a:tcPr marL="73152" marR="73152">
                    <a:solidFill>
                      <a:srgbClr val="161B22"/>
                    </a:solidFill>
                  </a:tcPr>
                </a:tc>
                <a:extLst>
                  <a:ext uri="{0D108BD9-81ED-4DB2-BD59-A6C34878D82A}">
                    <a16:rowId xmlns:a16="http://schemas.microsoft.com/office/drawing/2014/main" val="10002"/>
                  </a:ext>
                </a:extLst>
              </a:tr>
              <a:tr h="571500">
                <a:tc>
                  <a:txBody>
                    <a:bodyPr/>
                    <a:lstStyle/>
                    <a:p>
                      <a:pPr algn="l"/>
                      <a:r>
                        <a:rPr sz="1100" b="1">
                          <a:solidFill>
                            <a:srgbClr val="E6EDF3"/>
                          </a:solidFill>
                          <a:latin typeface="IBM Plex Sans"/>
                        </a:rPr>
                        <a:t>Grafana</a:t>
                      </a:r>
                    </a:p>
                  </a:txBody>
                  <a:tcPr marL="73152" marR="73152">
                    <a:solidFill>
                      <a:srgbClr val="161B22"/>
                    </a:solidFill>
                  </a:tcPr>
                </a:tc>
                <a:tc>
                  <a:txBody>
                    <a:bodyPr/>
                    <a:lstStyle/>
                    <a:p>
                      <a:pPr algn="l"/>
                      <a:r>
                        <a:rPr sz="1100" b="0">
                          <a:solidFill>
                            <a:srgbClr val="8B949E"/>
                          </a:solidFill>
                          <a:latin typeface="IBM Plex Sans"/>
                        </a:rPr>
                        <a:t>Turns Prometheus metrics into readable dashboards.</a:t>
                      </a:r>
                    </a:p>
                  </a:txBody>
                  <a:tcPr marL="73152" marR="73152">
                    <a:solidFill>
                      <a:srgbClr val="161B22"/>
                    </a:solidFill>
                  </a:tcPr>
                </a:tc>
                <a:tc>
                  <a:txBody>
                    <a:bodyPr/>
                    <a:lstStyle/>
                    <a:p>
                      <a:pPr algn="l"/>
                      <a:r>
                        <a:rPr sz="1100" b="0" dirty="0">
                          <a:solidFill>
                            <a:srgbClr val="8B949E"/>
                          </a:solidFill>
                          <a:latin typeface="IBM Plex Sans"/>
                        </a:rPr>
                        <a:t>Visualizes pipeline health</a:t>
                      </a:r>
                    </a:p>
                  </a:txBody>
                  <a:tcPr marL="73152" marR="73152">
                    <a:solidFill>
                      <a:srgbClr val="161B22"/>
                    </a:solidFill>
                  </a:tcPr>
                </a:tc>
                <a:extLst>
                  <a:ext uri="{0D108BD9-81ED-4DB2-BD59-A6C34878D82A}">
                    <a16:rowId xmlns:a16="http://schemas.microsoft.com/office/drawing/2014/main" val="10003"/>
                  </a:ext>
                </a:extLst>
              </a:tr>
            </a:tbl>
          </a:graphicData>
        </a:graphic>
      </p:graphicFrame>
      <p:sp>
        <p:nvSpPr>
          <p:cNvPr id="37" name="TextBox 36"/>
          <p:cNvSpPr txBox="1"/>
          <p:nvPr/>
        </p:nvSpPr>
        <p:spPr>
          <a:xfrm>
            <a:off x="566928" y="6519672"/>
            <a:ext cx="5852160" cy="164592"/>
          </a:xfrm>
          <a:prstGeom prst="rect">
            <a:avLst/>
          </a:prstGeom>
          <a:noFill/>
        </p:spPr>
        <p:txBody>
          <a:bodyPr wrap="square" lIns="45720" rIns="45720" anchor="t">
            <a:spAutoFit/>
          </a:bodyPr>
          <a:lstStyle/>
          <a:p>
            <a:pPr algn="l"/>
            <a:r>
              <a:rPr sz="900" b="0" i="0">
                <a:solidFill>
                  <a:srgbClr val="8B949E"/>
                </a:solidFill>
                <a:latin typeface="IBM Plex Mono"/>
              </a:rPr>
              <a:t>DATA PILOT AI  /  DECISION INTELLIGENCE</a:t>
            </a:r>
          </a:p>
        </p:txBody>
      </p:sp>
      <p:sp>
        <p:nvSpPr>
          <p:cNvPr id="38" name="TextBox 37"/>
          <p:cNvSpPr txBox="1"/>
          <p:nvPr/>
        </p:nvSpPr>
        <p:spPr>
          <a:xfrm>
            <a:off x="11201400" y="6501384"/>
            <a:ext cx="228600" cy="182880"/>
          </a:xfrm>
          <a:prstGeom prst="rect">
            <a:avLst/>
          </a:prstGeom>
          <a:noFill/>
        </p:spPr>
        <p:txBody>
          <a:bodyPr wrap="square" lIns="45720" rIns="45720" anchor="t">
            <a:spAutoFit/>
          </a:bodyPr>
          <a:lstStyle/>
          <a:p>
            <a:r>
              <a:rPr sz="900"/>
              <a:t>→</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2103120" cy="246221"/>
          </a:xfrm>
          <a:prstGeom prst="rect">
            <a:avLst/>
          </a:prstGeom>
          <a:noFill/>
        </p:spPr>
        <p:txBody>
          <a:bodyPr wrap="square" lIns="45720" rIns="45720" anchor="t">
            <a:spAutoFit/>
          </a:bodyPr>
          <a:lstStyle/>
          <a:p>
            <a:pPr algn="l"/>
            <a:r>
              <a:rPr sz="1000" b="0" i="0" dirty="0">
                <a:solidFill>
                  <a:srgbClr val="8B949E"/>
                </a:solidFill>
                <a:latin typeface="IBM Plex Mono"/>
              </a:rPr>
              <a:t>DATAPILOT AI  /  </a:t>
            </a:r>
            <a:r>
              <a:rPr lang="en-IN" sz="1000" dirty="0">
                <a:solidFill>
                  <a:srgbClr val="8B949E"/>
                </a:solidFill>
                <a:latin typeface="IBM Plex Mono"/>
              </a:rPr>
              <a:t>08</a:t>
            </a:r>
            <a:endParaRPr sz="1000" b="0" i="0" dirty="0">
              <a:solidFill>
                <a:srgbClr val="8B949E"/>
              </a:solidFill>
              <a:latin typeface="IBM Plex Mono"/>
            </a:endParaRPr>
          </a:p>
        </p:txBody>
      </p:sp>
      <p:sp>
        <p:nvSpPr>
          <p:cNvPr id="6" name="Rectangle 5"/>
          <p:cNvSpPr/>
          <p:nvPr/>
        </p:nvSpPr>
        <p:spPr>
          <a:xfrm>
            <a:off x="502920" y="585216"/>
            <a:ext cx="11183112" cy="9144"/>
          </a:xfrm>
          <a:prstGeom prst="rect">
            <a:avLst/>
          </a:prstGeom>
          <a:solidFill>
            <a:srgbClr val="303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786384"/>
            <a:ext cx="7955279" cy="475488"/>
          </a:xfrm>
          <a:prstGeom prst="rect">
            <a:avLst/>
          </a:prstGeom>
          <a:noFill/>
        </p:spPr>
        <p:txBody>
          <a:bodyPr wrap="square" lIns="45720" rIns="45720" anchor="t">
            <a:spAutoFit/>
          </a:bodyPr>
          <a:lstStyle/>
          <a:p>
            <a:pPr algn="l"/>
            <a:r>
              <a:rPr sz="3000" b="1" i="0" dirty="0">
                <a:solidFill>
                  <a:srgbClr val="E6EDF3"/>
                </a:solidFill>
                <a:latin typeface="IBM Plex Sans"/>
              </a:rPr>
              <a:t>One query, end to end</a:t>
            </a:r>
          </a:p>
        </p:txBody>
      </p:sp>
      <p:sp>
        <p:nvSpPr>
          <p:cNvPr id="8" name="TextBox 7"/>
          <p:cNvSpPr txBox="1"/>
          <p:nvPr/>
        </p:nvSpPr>
        <p:spPr>
          <a:xfrm>
            <a:off x="585216" y="1298448"/>
            <a:ext cx="7955279" cy="347472"/>
          </a:xfrm>
          <a:prstGeom prst="rect">
            <a:avLst/>
          </a:prstGeom>
          <a:noFill/>
        </p:spPr>
        <p:txBody>
          <a:bodyPr wrap="square" lIns="45720" rIns="45720" anchor="t">
            <a:spAutoFit/>
          </a:bodyPr>
          <a:lstStyle/>
          <a:p>
            <a:pPr algn="l"/>
            <a:r>
              <a:rPr sz="1300" b="0" i="0">
                <a:solidFill>
                  <a:srgbClr val="8B949E"/>
                </a:solidFill>
                <a:latin typeface="IBM Plex Sans"/>
              </a:rPr>
              <a:t>An AI execution trace from user intent to dashboard result.</a:t>
            </a:r>
          </a:p>
        </p:txBody>
      </p:sp>
      <p:sp>
        <p:nvSpPr>
          <p:cNvPr id="9" name="Rounded Rectangle 8"/>
          <p:cNvSpPr/>
          <p:nvPr/>
        </p:nvSpPr>
        <p:spPr>
          <a:xfrm>
            <a:off x="658368" y="1664208"/>
            <a:ext cx="10881360" cy="777240"/>
          </a:xfrm>
          <a:prstGeom prst="roundRect">
            <a:avLst/>
          </a:prstGeom>
          <a:solidFill>
            <a:srgbClr val="161B22"/>
          </a:solidFill>
          <a:ln w="1016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59" y="1773936"/>
            <a:ext cx="10552176" cy="182880"/>
          </a:xfrm>
          <a:prstGeom prst="rect">
            <a:avLst/>
          </a:prstGeom>
          <a:noFill/>
        </p:spPr>
        <p:txBody>
          <a:bodyPr wrap="square" lIns="45720" rIns="45720" anchor="t">
            <a:spAutoFit/>
          </a:bodyPr>
          <a:lstStyle/>
          <a:p>
            <a:pPr algn="l"/>
            <a:r>
              <a:rPr sz="900" b="1" i="0">
                <a:solidFill>
                  <a:srgbClr val="2DD4BF"/>
                </a:solidFill>
                <a:latin typeface="IBM Plex Mono"/>
              </a:rPr>
              <a:t>USER INPUT</a:t>
            </a:r>
          </a:p>
        </p:txBody>
      </p:sp>
      <p:sp>
        <p:nvSpPr>
          <p:cNvPr id="11" name="TextBox 10"/>
          <p:cNvSpPr txBox="1"/>
          <p:nvPr/>
        </p:nvSpPr>
        <p:spPr>
          <a:xfrm>
            <a:off x="822959" y="1966041"/>
            <a:ext cx="9966960" cy="276999"/>
          </a:xfrm>
          <a:prstGeom prst="rect">
            <a:avLst/>
          </a:prstGeom>
          <a:noFill/>
        </p:spPr>
        <p:txBody>
          <a:bodyPr wrap="square" lIns="45720" rIns="45720" anchor="t">
            <a:spAutoFit/>
          </a:bodyPr>
          <a:lstStyle/>
          <a:p>
            <a:r>
              <a:rPr sz="1200" dirty="0">
                <a:solidFill>
                  <a:schemeClr val="bg1"/>
                </a:solidFill>
                <a:latin typeface="IBM Plex Mono" panose="020B0509050203000203" pitchFamily="49" charset="0"/>
              </a:rPr>
              <a:t>You ask “show revenue trend by region” in the Next.js dashboard.</a:t>
            </a:r>
          </a:p>
        </p:txBody>
      </p:sp>
      <p:sp>
        <p:nvSpPr>
          <p:cNvPr id="12" name="Rounded Rectangle 11"/>
          <p:cNvSpPr/>
          <p:nvPr/>
        </p:nvSpPr>
        <p:spPr>
          <a:xfrm>
            <a:off x="731520" y="2971800"/>
            <a:ext cx="1508760" cy="621792"/>
          </a:xfrm>
          <a:prstGeom prst="roundRect">
            <a:avLst/>
          </a:prstGeom>
          <a:solidFill>
            <a:srgbClr val="161B22"/>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41248" y="3108960"/>
            <a:ext cx="73152" cy="73152"/>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87552" y="3044952"/>
            <a:ext cx="1161288" cy="256032"/>
          </a:xfrm>
          <a:prstGeom prst="rect">
            <a:avLst/>
          </a:prstGeom>
          <a:noFill/>
        </p:spPr>
        <p:txBody>
          <a:bodyPr wrap="square" lIns="45720" rIns="45720" anchor="ctr">
            <a:spAutoFit/>
          </a:bodyPr>
          <a:lstStyle/>
          <a:p>
            <a:pPr algn="l"/>
            <a:r>
              <a:rPr sz="1200" b="1" i="0">
                <a:solidFill>
                  <a:srgbClr val="E6EDF3"/>
                </a:solidFill>
                <a:latin typeface="IBM Plex Sans"/>
              </a:rPr>
              <a:t>NEXT.JS</a:t>
            </a:r>
          </a:p>
        </p:txBody>
      </p:sp>
      <p:sp>
        <p:nvSpPr>
          <p:cNvPr id="15" name="TextBox 14"/>
          <p:cNvSpPr txBox="1"/>
          <p:nvPr/>
        </p:nvSpPr>
        <p:spPr>
          <a:xfrm>
            <a:off x="958596" y="3259836"/>
            <a:ext cx="1161288" cy="182880"/>
          </a:xfrm>
          <a:prstGeom prst="rect">
            <a:avLst/>
          </a:prstGeom>
          <a:noFill/>
        </p:spPr>
        <p:txBody>
          <a:bodyPr wrap="square" lIns="45720" rIns="45720" anchor="t">
            <a:spAutoFit/>
          </a:bodyPr>
          <a:lstStyle/>
          <a:p>
            <a:pPr algn="l"/>
            <a:r>
              <a:rPr sz="1000" b="0" i="0" dirty="0">
                <a:solidFill>
                  <a:srgbClr val="8B949E"/>
                </a:solidFill>
                <a:latin typeface="IBM Plex Mono"/>
              </a:rPr>
              <a:t>dashboard</a:t>
            </a:r>
          </a:p>
        </p:txBody>
      </p:sp>
      <p:sp>
        <p:nvSpPr>
          <p:cNvPr id="16" name="Rounded Rectangle 15"/>
          <p:cNvSpPr/>
          <p:nvPr/>
        </p:nvSpPr>
        <p:spPr>
          <a:xfrm>
            <a:off x="2834640" y="2971800"/>
            <a:ext cx="1508760" cy="621792"/>
          </a:xfrm>
          <a:prstGeom prst="roundRect">
            <a:avLst/>
          </a:prstGeom>
          <a:solidFill>
            <a:srgbClr val="161B22"/>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2944368" y="3108960"/>
            <a:ext cx="73152" cy="73152"/>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090672" y="3044952"/>
            <a:ext cx="1161288" cy="256032"/>
          </a:xfrm>
          <a:prstGeom prst="rect">
            <a:avLst/>
          </a:prstGeom>
          <a:noFill/>
        </p:spPr>
        <p:txBody>
          <a:bodyPr wrap="square" lIns="45720" rIns="45720" anchor="ctr">
            <a:spAutoFit/>
          </a:bodyPr>
          <a:lstStyle/>
          <a:p>
            <a:pPr algn="l"/>
            <a:r>
              <a:rPr sz="1200" b="1" i="0">
                <a:solidFill>
                  <a:srgbClr val="E6EDF3"/>
                </a:solidFill>
                <a:latin typeface="IBM Plex Sans"/>
              </a:rPr>
              <a:t>FASTAPI</a:t>
            </a:r>
          </a:p>
        </p:txBody>
      </p:sp>
      <p:sp>
        <p:nvSpPr>
          <p:cNvPr id="19" name="TextBox 18"/>
          <p:cNvSpPr txBox="1"/>
          <p:nvPr/>
        </p:nvSpPr>
        <p:spPr>
          <a:xfrm>
            <a:off x="3058668" y="3259836"/>
            <a:ext cx="1161288" cy="182880"/>
          </a:xfrm>
          <a:prstGeom prst="rect">
            <a:avLst/>
          </a:prstGeom>
          <a:noFill/>
        </p:spPr>
        <p:txBody>
          <a:bodyPr wrap="square" lIns="45720" rIns="45720" anchor="t">
            <a:spAutoFit/>
          </a:bodyPr>
          <a:lstStyle/>
          <a:p>
            <a:pPr algn="l"/>
            <a:r>
              <a:rPr sz="1000" b="0" i="0" dirty="0">
                <a:solidFill>
                  <a:srgbClr val="8B949E"/>
                </a:solidFill>
                <a:latin typeface="IBM Plex Mono"/>
              </a:rPr>
              <a:t>forwards query</a:t>
            </a:r>
          </a:p>
        </p:txBody>
      </p:sp>
      <p:sp>
        <p:nvSpPr>
          <p:cNvPr id="20" name="Rounded Rectangle 19"/>
          <p:cNvSpPr/>
          <p:nvPr/>
        </p:nvSpPr>
        <p:spPr>
          <a:xfrm>
            <a:off x="4937760" y="2971800"/>
            <a:ext cx="1508760" cy="621792"/>
          </a:xfrm>
          <a:prstGeom prst="roundRect">
            <a:avLst/>
          </a:prstGeom>
          <a:solidFill>
            <a:srgbClr val="161B22"/>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5047488" y="3108960"/>
            <a:ext cx="73152" cy="7315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193792" y="3044952"/>
            <a:ext cx="1161288" cy="256032"/>
          </a:xfrm>
          <a:prstGeom prst="rect">
            <a:avLst/>
          </a:prstGeom>
          <a:noFill/>
        </p:spPr>
        <p:txBody>
          <a:bodyPr wrap="square" lIns="45720" rIns="45720" anchor="ctr">
            <a:spAutoFit/>
          </a:bodyPr>
          <a:lstStyle/>
          <a:p>
            <a:pPr algn="l"/>
            <a:r>
              <a:rPr sz="1200" b="1" i="0">
                <a:solidFill>
                  <a:srgbClr val="E6EDF3"/>
                </a:solidFill>
                <a:latin typeface="IBM Plex Sans"/>
              </a:rPr>
              <a:t>LANGGRAPH</a:t>
            </a:r>
          </a:p>
        </p:txBody>
      </p:sp>
      <p:sp>
        <p:nvSpPr>
          <p:cNvPr id="23" name="TextBox 22"/>
          <p:cNvSpPr txBox="1"/>
          <p:nvPr/>
        </p:nvSpPr>
        <p:spPr>
          <a:xfrm>
            <a:off x="5212080" y="3249549"/>
            <a:ext cx="1161288" cy="182880"/>
          </a:xfrm>
          <a:prstGeom prst="rect">
            <a:avLst/>
          </a:prstGeom>
          <a:noFill/>
        </p:spPr>
        <p:txBody>
          <a:bodyPr wrap="square" lIns="45720" rIns="45720" anchor="t">
            <a:spAutoFit/>
          </a:bodyPr>
          <a:lstStyle/>
          <a:p>
            <a:pPr algn="l"/>
            <a:r>
              <a:rPr sz="1000" b="0" i="0" dirty="0">
                <a:solidFill>
                  <a:srgbClr val="8B949E"/>
                </a:solidFill>
                <a:latin typeface="IBM Plex Mono"/>
              </a:rPr>
              <a:t>pipeline</a:t>
            </a:r>
          </a:p>
        </p:txBody>
      </p:sp>
      <p:sp>
        <p:nvSpPr>
          <p:cNvPr id="24" name="Rounded Rectangle 23"/>
          <p:cNvSpPr/>
          <p:nvPr/>
        </p:nvSpPr>
        <p:spPr>
          <a:xfrm>
            <a:off x="7040880" y="2971800"/>
            <a:ext cx="1508760" cy="621792"/>
          </a:xfrm>
          <a:prstGeom prst="roundRect">
            <a:avLst/>
          </a:prstGeom>
          <a:solidFill>
            <a:srgbClr val="161B22"/>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7150608" y="3108960"/>
            <a:ext cx="73152" cy="73152"/>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296912" y="3044952"/>
            <a:ext cx="1161288" cy="256032"/>
          </a:xfrm>
          <a:prstGeom prst="rect">
            <a:avLst/>
          </a:prstGeom>
          <a:noFill/>
        </p:spPr>
        <p:txBody>
          <a:bodyPr wrap="square" lIns="45720" rIns="45720" anchor="ctr">
            <a:spAutoFit/>
          </a:bodyPr>
          <a:lstStyle/>
          <a:p>
            <a:pPr algn="l"/>
            <a:r>
              <a:rPr sz="1200" b="1" i="0">
                <a:solidFill>
                  <a:srgbClr val="E6EDF3"/>
                </a:solidFill>
                <a:latin typeface="IBM Plex Sans"/>
              </a:rPr>
              <a:t>PLANNER</a:t>
            </a:r>
          </a:p>
        </p:txBody>
      </p:sp>
      <p:sp>
        <p:nvSpPr>
          <p:cNvPr id="27" name="TextBox 26"/>
          <p:cNvSpPr txBox="1"/>
          <p:nvPr/>
        </p:nvSpPr>
        <p:spPr>
          <a:xfrm>
            <a:off x="7274052" y="3280410"/>
            <a:ext cx="1161288" cy="182880"/>
          </a:xfrm>
          <a:prstGeom prst="rect">
            <a:avLst/>
          </a:prstGeom>
          <a:noFill/>
        </p:spPr>
        <p:txBody>
          <a:bodyPr wrap="square" lIns="45720" rIns="45720" anchor="t">
            <a:spAutoFit/>
          </a:bodyPr>
          <a:lstStyle/>
          <a:p>
            <a:pPr algn="l"/>
            <a:r>
              <a:rPr sz="1000" b="0" i="0" dirty="0">
                <a:solidFill>
                  <a:srgbClr val="8B949E"/>
                </a:solidFill>
                <a:latin typeface="IBM Plex Mono"/>
              </a:rPr>
              <a:t>decides steps</a:t>
            </a:r>
          </a:p>
        </p:txBody>
      </p:sp>
      <p:sp>
        <p:nvSpPr>
          <p:cNvPr id="28" name="Rounded Rectangle 27"/>
          <p:cNvSpPr/>
          <p:nvPr/>
        </p:nvSpPr>
        <p:spPr>
          <a:xfrm>
            <a:off x="9144000" y="2971800"/>
            <a:ext cx="1508760" cy="621792"/>
          </a:xfrm>
          <a:prstGeom prst="roundRect">
            <a:avLst/>
          </a:prstGeom>
          <a:solidFill>
            <a:srgbClr val="161B22"/>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9253728" y="3108960"/>
            <a:ext cx="73152" cy="73152"/>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400032" y="3044952"/>
            <a:ext cx="1161288" cy="256032"/>
          </a:xfrm>
          <a:prstGeom prst="rect">
            <a:avLst/>
          </a:prstGeom>
          <a:noFill/>
        </p:spPr>
        <p:txBody>
          <a:bodyPr wrap="square" lIns="45720" rIns="45720" anchor="ctr">
            <a:spAutoFit/>
          </a:bodyPr>
          <a:lstStyle/>
          <a:p>
            <a:pPr algn="l"/>
            <a:r>
              <a:rPr sz="1200" b="1" i="0">
                <a:solidFill>
                  <a:srgbClr val="E6EDF3"/>
                </a:solidFill>
                <a:latin typeface="IBM Plex Sans"/>
              </a:rPr>
              <a:t>EXECUTOR</a:t>
            </a:r>
          </a:p>
        </p:txBody>
      </p:sp>
      <p:sp>
        <p:nvSpPr>
          <p:cNvPr id="31" name="TextBox 30"/>
          <p:cNvSpPr txBox="1"/>
          <p:nvPr/>
        </p:nvSpPr>
        <p:spPr>
          <a:xfrm>
            <a:off x="9390888" y="3227832"/>
            <a:ext cx="1161288" cy="182880"/>
          </a:xfrm>
          <a:prstGeom prst="rect">
            <a:avLst/>
          </a:prstGeom>
          <a:noFill/>
        </p:spPr>
        <p:txBody>
          <a:bodyPr wrap="square" lIns="45720" rIns="45720" anchor="t">
            <a:spAutoFit/>
          </a:bodyPr>
          <a:lstStyle/>
          <a:p>
            <a:pPr algn="l"/>
            <a:r>
              <a:rPr sz="1000" b="0" i="0" dirty="0">
                <a:solidFill>
                  <a:srgbClr val="8B949E"/>
                </a:solidFill>
                <a:latin typeface="IBM Plex Mono"/>
              </a:rPr>
              <a:t>runs operations</a:t>
            </a:r>
          </a:p>
        </p:txBody>
      </p:sp>
      <p:sp>
        <p:nvSpPr>
          <p:cNvPr id="32" name="Rounded Rectangle 31"/>
          <p:cNvSpPr/>
          <p:nvPr/>
        </p:nvSpPr>
        <p:spPr>
          <a:xfrm>
            <a:off x="1746504" y="4590288"/>
            <a:ext cx="1508760" cy="621792"/>
          </a:xfrm>
          <a:prstGeom prst="roundRect">
            <a:avLst/>
          </a:prstGeom>
          <a:solidFill>
            <a:srgbClr val="161B22"/>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847088" y="4709160"/>
            <a:ext cx="73152" cy="73152"/>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993391" y="4645152"/>
            <a:ext cx="1161288" cy="256032"/>
          </a:xfrm>
          <a:prstGeom prst="rect">
            <a:avLst/>
          </a:prstGeom>
          <a:noFill/>
        </p:spPr>
        <p:txBody>
          <a:bodyPr wrap="square" lIns="45720" rIns="45720" anchor="ctr">
            <a:spAutoFit/>
          </a:bodyPr>
          <a:lstStyle/>
          <a:p>
            <a:pPr algn="l"/>
            <a:r>
              <a:rPr sz="1200" b="1" i="0">
                <a:solidFill>
                  <a:srgbClr val="E6EDF3"/>
                </a:solidFill>
                <a:latin typeface="IBM Plex Sans"/>
              </a:rPr>
              <a:t>MCP</a:t>
            </a:r>
          </a:p>
        </p:txBody>
      </p:sp>
      <p:sp>
        <p:nvSpPr>
          <p:cNvPr id="35" name="TextBox 34"/>
          <p:cNvSpPr txBox="1"/>
          <p:nvPr/>
        </p:nvSpPr>
        <p:spPr>
          <a:xfrm>
            <a:off x="1993391" y="4956048"/>
            <a:ext cx="1161288" cy="182880"/>
          </a:xfrm>
          <a:prstGeom prst="rect">
            <a:avLst/>
          </a:prstGeom>
          <a:noFill/>
        </p:spPr>
        <p:txBody>
          <a:bodyPr wrap="square" lIns="45720" rIns="45720" anchor="t">
            <a:spAutoFit/>
          </a:bodyPr>
          <a:lstStyle/>
          <a:p>
            <a:pPr algn="l"/>
            <a:r>
              <a:rPr sz="1000" b="0" i="0">
                <a:solidFill>
                  <a:srgbClr val="8B949E"/>
                </a:solidFill>
                <a:latin typeface="IBM Plex Mono"/>
              </a:rPr>
              <a:t>tool server</a:t>
            </a:r>
          </a:p>
        </p:txBody>
      </p:sp>
      <p:sp>
        <p:nvSpPr>
          <p:cNvPr id="36" name="Rounded Rectangle 35"/>
          <p:cNvSpPr/>
          <p:nvPr/>
        </p:nvSpPr>
        <p:spPr>
          <a:xfrm>
            <a:off x="3931920" y="4572000"/>
            <a:ext cx="2011680" cy="621792"/>
          </a:xfrm>
          <a:prstGeom prst="roundRect">
            <a:avLst/>
          </a:prstGeom>
          <a:solidFill>
            <a:srgbClr val="161B22"/>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4041648" y="4709160"/>
            <a:ext cx="73152" cy="73152"/>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187952" y="4645152"/>
            <a:ext cx="1664208" cy="256032"/>
          </a:xfrm>
          <a:prstGeom prst="rect">
            <a:avLst/>
          </a:prstGeom>
          <a:noFill/>
        </p:spPr>
        <p:txBody>
          <a:bodyPr wrap="square" lIns="45720" rIns="45720" anchor="ctr">
            <a:spAutoFit/>
          </a:bodyPr>
          <a:lstStyle/>
          <a:p>
            <a:pPr algn="l"/>
            <a:r>
              <a:rPr sz="1050" b="1" i="0">
                <a:solidFill>
                  <a:srgbClr val="E6EDF3"/>
                </a:solidFill>
                <a:latin typeface="IBM Plex Sans"/>
              </a:rPr>
              <a:t>DUCKDB / NEO4J / REDIS</a:t>
            </a:r>
          </a:p>
        </p:txBody>
      </p:sp>
      <p:sp>
        <p:nvSpPr>
          <p:cNvPr id="39" name="TextBox 38"/>
          <p:cNvSpPr txBox="1"/>
          <p:nvPr/>
        </p:nvSpPr>
        <p:spPr>
          <a:xfrm>
            <a:off x="4187952" y="4956048"/>
            <a:ext cx="1664208" cy="182880"/>
          </a:xfrm>
          <a:prstGeom prst="rect">
            <a:avLst/>
          </a:prstGeom>
          <a:noFill/>
        </p:spPr>
        <p:txBody>
          <a:bodyPr wrap="square" lIns="45720" rIns="45720" anchor="t">
            <a:spAutoFit/>
          </a:bodyPr>
          <a:lstStyle/>
          <a:p>
            <a:pPr algn="l"/>
            <a:r>
              <a:rPr sz="1000" b="0" i="0">
                <a:solidFill>
                  <a:srgbClr val="8B949E"/>
                </a:solidFill>
                <a:latin typeface="IBM Plex Mono"/>
              </a:rPr>
              <a:t>data layer</a:t>
            </a:r>
          </a:p>
        </p:txBody>
      </p:sp>
      <p:sp>
        <p:nvSpPr>
          <p:cNvPr id="40" name="Rounded Rectangle 39"/>
          <p:cNvSpPr/>
          <p:nvPr/>
        </p:nvSpPr>
        <p:spPr>
          <a:xfrm>
            <a:off x="6400800" y="4572000"/>
            <a:ext cx="1645920" cy="621792"/>
          </a:xfrm>
          <a:prstGeom prst="roundRect">
            <a:avLst/>
          </a:prstGeom>
          <a:solidFill>
            <a:srgbClr val="161B22"/>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6510528" y="4709160"/>
            <a:ext cx="73152" cy="7315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656832" y="4645152"/>
            <a:ext cx="1298448" cy="256032"/>
          </a:xfrm>
          <a:prstGeom prst="rect">
            <a:avLst/>
          </a:prstGeom>
          <a:noFill/>
        </p:spPr>
        <p:txBody>
          <a:bodyPr wrap="square" lIns="45720" rIns="45720" anchor="ctr">
            <a:spAutoFit/>
          </a:bodyPr>
          <a:lstStyle/>
          <a:p>
            <a:pPr algn="l"/>
            <a:r>
              <a:rPr sz="1200" b="1" i="0">
                <a:solidFill>
                  <a:srgbClr val="E6EDF3"/>
                </a:solidFill>
                <a:latin typeface="IBM Plex Sans"/>
              </a:rPr>
              <a:t>ANALYZER</a:t>
            </a:r>
          </a:p>
        </p:txBody>
      </p:sp>
      <p:sp>
        <p:nvSpPr>
          <p:cNvPr id="43" name="TextBox 42"/>
          <p:cNvSpPr txBox="1"/>
          <p:nvPr/>
        </p:nvSpPr>
        <p:spPr>
          <a:xfrm>
            <a:off x="6586347" y="4812411"/>
            <a:ext cx="1298448" cy="182880"/>
          </a:xfrm>
          <a:prstGeom prst="rect">
            <a:avLst/>
          </a:prstGeom>
          <a:noFill/>
        </p:spPr>
        <p:txBody>
          <a:bodyPr wrap="square" lIns="45720" rIns="45720" anchor="t">
            <a:spAutoFit/>
          </a:bodyPr>
          <a:lstStyle/>
          <a:p>
            <a:pPr algn="l"/>
            <a:r>
              <a:rPr sz="1000" b="0" i="0" dirty="0">
                <a:solidFill>
                  <a:srgbClr val="8B949E"/>
                </a:solidFill>
                <a:latin typeface="IBM Plex Mono"/>
              </a:rPr>
              <a:t>summary + chart data</a:t>
            </a:r>
          </a:p>
        </p:txBody>
      </p:sp>
      <p:sp>
        <p:nvSpPr>
          <p:cNvPr id="44" name="Rounded Rectangle 43"/>
          <p:cNvSpPr/>
          <p:nvPr/>
        </p:nvSpPr>
        <p:spPr>
          <a:xfrm>
            <a:off x="9144000" y="4572000"/>
            <a:ext cx="1508760" cy="621792"/>
          </a:xfrm>
          <a:prstGeom prst="roundRect">
            <a:avLst/>
          </a:prstGeom>
          <a:solidFill>
            <a:srgbClr val="161B22"/>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9253728" y="4709160"/>
            <a:ext cx="73152" cy="73152"/>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400032" y="4645152"/>
            <a:ext cx="1161288" cy="256032"/>
          </a:xfrm>
          <a:prstGeom prst="rect">
            <a:avLst/>
          </a:prstGeom>
          <a:noFill/>
        </p:spPr>
        <p:txBody>
          <a:bodyPr wrap="square" lIns="45720" rIns="45720" anchor="ctr">
            <a:spAutoFit/>
          </a:bodyPr>
          <a:lstStyle/>
          <a:p>
            <a:pPr algn="l"/>
            <a:r>
              <a:rPr sz="1200" b="1" i="0">
                <a:solidFill>
                  <a:srgbClr val="E6EDF3"/>
                </a:solidFill>
                <a:latin typeface="IBM Plex Sans"/>
              </a:rPr>
              <a:t>DASHBOARD</a:t>
            </a:r>
          </a:p>
        </p:txBody>
      </p:sp>
      <p:sp>
        <p:nvSpPr>
          <p:cNvPr id="47" name="TextBox 46"/>
          <p:cNvSpPr txBox="1"/>
          <p:nvPr/>
        </p:nvSpPr>
        <p:spPr>
          <a:xfrm>
            <a:off x="9400032" y="4830317"/>
            <a:ext cx="1161288" cy="182880"/>
          </a:xfrm>
          <a:prstGeom prst="rect">
            <a:avLst/>
          </a:prstGeom>
          <a:noFill/>
        </p:spPr>
        <p:txBody>
          <a:bodyPr wrap="square" lIns="45720" rIns="45720" anchor="t">
            <a:spAutoFit/>
          </a:bodyPr>
          <a:lstStyle/>
          <a:p>
            <a:pPr algn="l"/>
            <a:r>
              <a:rPr sz="1000" b="0" i="0">
                <a:solidFill>
                  <a:srgbClr val="8B949E"/>
                </a:solidFill>
                <a:latin typeface="IBM Plex Mono"/>
              </a:rPr>
              <a:t>result</a:t>
            </a:r>
          </a:p>
        </p:txBody>
      </p:sp>
      <p:cxnSp>
        <p:nvCxnSpPr>
          <p:cNvPr id="48" name="Connector 47"/>
          <p:cNvCxnSpPr/>
          <p:nvPr/>
        </p:nvCxnSpPr>
        <p:spPr>
          <a:xfrm>
            <a:off x="2240280" y="3282696"/>
            <a:ext cx="521208" cy="0"/>
          </a:xfrm>
          <a:prstGeom prst="line">
            <a:avLst/>
          </a:prstGeom>
          <a:ln w="17780">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4343400" y="3282696"/>
            <a:ext cx="521208" cy="0"/>
          </a:xfrm>
          <a:prstGeom prst="line">
            <a:avLst/>
          </a:prstGeom>
          <a:ln w="17780">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6446520" y="3282696"/>
            <a:ext cx="521208" cy="0"/>
          </a:xfrm>
          <a:prstGeom prst="line">
            <a:avLst/>
          </a:prstGeom>
          <a:ln w="17780">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8549640" y="3282696"/>
            <a:ext cx="521208" cy="0"/>
          </a:xfrm>
          <a:prstGeom prst="line">
            <a:avLst/>
          </a:prstGeom>
          <a:ln w="17780">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9893808" y="3776472"/>
            <a:ext cx="0" cy="722376"/>
          </a:xfrm>
          <a:prstGeom prst="line">
            <a:avLst/>
          </a:prstGeom>
          <a:ln w="17780">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8119872" y="4882896"/>
            <a:ext cx="950976" cy="0"/>
          </a:xfrm>
          <a:prstGeom prst="line">
            <a:avLst/>
          </a:prstGeom>
          <a:ln w="17780">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6016752" y="4882896"/>
            <a:ext cx="310896" cy="0"/>
          </a:xfrm>
          <a:prstGeom prst="line">
            <a:avLst/>
          </a:prstGeom>
          <a:ln w="17780">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3319272" y="4882896"/>
            <a:ext cx="521208" cy="0"/>
          </a:xfrm>
          <a:prstGeom prst="line">
            <a:avLst/>
          </a:prstGeom>
          <a:ln w="17780">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1719072" y="3703320"/>
            <a:ext cx="0" cy="868680"/>
          </a:xfrm>
          <a:prstGeom prst="line">
            <a:avLst/>
          </a:prstGeom>
          <a:ln w="17780">
            <a:solidFill>
              <a:srgbClr val="2DD4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Rounded Rectangle 56"/>
          <p:cNvSpPr/>
          <p:nvPr/>
        </p:nvSpPr>
        <p:spPr>
          <a:xfrm>
            <a:off x="658368" y="5596128"/>
            <a:ext cx="10881360" cy="621792"/>
          </a:xfrm>
          <a:prstGeom prst="roundRect">
            <a:avLst/>
          </a:prstGeom>
          <a:solidFill>
            <a:srgbClr val="161B22"/>
          </a:solidFill>
          <a:ln w="1016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822959" y="5705856"/>
            <a:ext cx="10552176" cy="182880"/>
          </a:xfrm>
          <a:prstGeom prst="rect">
            <a:avLst/>
          </a:prstGeom>
          <a:noFill/>
        </p:spPr>
        <p:txBody>
          <a:bodyPr wrap="square" lIns="45720" rIns="45720" anchor="t">
            <a:spAutoFit/>
          </a:bodyPr>
          <a:lstStyle/>
          <a:p>
            <a:pPr algn="l"/>
            <a:r>
              <a:rPr sz="900" b="1" i="0">
                <a:solidFill>
                  <a:srgbClr val="8B949E"/>
                </a:solidFill>
                <a:latin typeface="IBM Plex Mono"/>
              </a:rPr>
              <a:t>TRACE LOG</a:t>
            </a:r>
          </a:p>
        </p:txBody>
      </p:sp>
      <p:sp>
        <p:nvSpPr>
          <p:cNvPr id="59" name="TextBox 58"/>
          <p:cNvSpPr txBox="1"/>
          <p:nvPr/>
        </p:nvSpPr>
        <p:spPr>
          <a:xfrm>
            <a:off x="868680" y="5833872"/>
            <a:ext cx="10378440" cy="365760"/>
          </a:xfrm>
          <a:prstGeom prst="rect">
            <a:avLst/>
          </a:prstGeom>
          <a:noFill/>
        </p:spPr>
        <p:txBody>
          <a:bodyPr wrap="square" lIns="27432" tIns="27432" rIns="27432" bIns="27432" anchor="t">
            <a:spAutoFit/>
          </a:bodyPr>
          <a:lstStyle/>
          <a:p>
            <a:pPr algn="l"/>
            <a:r>
              <a:rPr sz="720" b="0" i="0">
                <a:solidFill>
                  <a:srgbClr val="8B949E"/>
                </a:solidFill>
                <a:latin typeface="IBM Plex Sans"/>
              </a:rPr>
              <a:t>FastAPI forwards the query into the LangGraph pipeline.  Planner decides what needs to happen: pull revenue by region, check for anomalies, plot as a line chart.  Executor calls the MCP tool server rather than touching databases directly.  MCP routes work to DuckDB for aggregation, Neo4j for related history, and Redis for caching.  Analyzer turns the results into a summary and chart data, which renders back on the dashboard.</a:t>
            </a:r>
          </a:p>
        </p:txBody>
      </p:sp>
      <p:sp>
        <p:nvSpPr>
          <p:cNvPr id="60" name="TextBox 59"/>
          <p:cNvSpPr txBox="1"/>
          <p:nvPr/>
        </p:nvSpPr>
        <p:spPr>
          <a:xfrm>
            <a:off x="566928" y="6519672"/>
            <a:ext cx="5852160" cy="164592"/>
          </a:xfrm>
          <a:prstGeom prst="rect">
            <a:avLst/>
          </a:prstGeom>
          <a:noFill/>
        </p:spPr>
        <p:txBody>
          <a:bodyPr wrap="square" lIns="45720" rIns="45720" anchor="t">
            <a:spAutoFit/>
          </a:bodyPr>
          <a:lstStyle/>
          <a:p>
            <a:pPr algn="l"/>
            <a:r>
              <a:rPr lang="it-IT" sz="900" b="0" i="0" dirty="0">
                <a:solidFill>
                  <a:srgbClr val="8B949E"/>
                </a:solidFill>
                <a:latin typeface="IBM Plex Mono"/>
              </a:rPr>
              <a:t>DATA PILOT AI  /  DECISION INTELLIGENCE</a:t>
            </a:r>
          </a:p>
        </p:txBody>
      </p:sp>
      <p:sp>
        <p:nvSpPr>
          <p:cNvPr id="61" name="TextBox 60"/>
          <p:cNvSpPr txBox="1"/>
          <p:nvPr/>
        </p:nvSpPr>
        <p:spPr>
          <a:xfrm>
            <a:off x="11201400" y="6501384"/>
            <a:ext cx="228600" cy="182880"/>
          </a:xfrm>
          <a:prstGeom prst="rect">
            <a:avLst/>
          </a:prstGeom>
          <a:noFill/>
        </p:spPr>
        <p:txBody>
          <a:bodyPr wrap="square" lIns="45720" rIns="45720" anchor="t">
            <a:spAutoFit/>
          </a:bodyPr>
          <a:lstStyle/>
          <a:p>
            <a:r>
              <a:rPr sz="900"/>
              <a:t>→</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2103120" cy="246221"/>
          </a:xfrm>
          <a:prstGeom prst="rect">
            <a:avLst/>
          </a:prstGeom>
          <a:noFill/>
        </p:spPr>
        <p:txBody>
          <a:bodyPr wrap="square" lIns="45720" rIns="45720" anchor="t">
            <a:spAutoFit/>
          </a:bodyPr>
          <a:lstStyle/>
          <a:p>
            <a:pPr algn="l"/>
            <a:r>
              <a:rPr sz="1000" b="0" i="0" dirty="0">
                <a:solidFill>
                  <a:srgbClr val="8B949E"/>
                </a:solidFill>
                <a:latin typeface="IBM Plex Mono"/>
              </a:rPr>
              <a:t>DATAPILOT AI  /  </a:t>
            </a:r>
            <a:r>
              <a:rPr lang="en-IN" sz="1000" dirty="0">
                <a:solidFill>
                  <a:srgbClr val="8B949E"/>
                </a:solidFill>
                <a:latin typeface="IBM Plex Mono"/>
              </a:rPr>
              <a:t>09</a:t>
            </a:r>
            <a:endParaRPr sz="1000" b="0" i="0" dirty="0">
              <a:solidFill>
                <a:srgbClr val="8B949E"/>
              </a:solidFill>
              <a:latin typeface="IBM Plex Mono"/>
            </a:endParaRPr>
          </a:p>
        </p:txBody>
      </p:sp>
      <p:sp>
        <p:nvSpPr>
          <p:cNvPr id="6" name="Rectangle 5"/>
          <p:cNvSpPr/>
          <p:nvPr/>
        </p:nvSpPr>
        <p:spPr>
          <a:xfrm>
            <a:off x="502920" y="585216"/>
            <a:ext cx="11183112" cy="9144"/>
          </a:xfrm>
          <a:prstGeom prst="rect">
            <a:avLst/>
          </a:prstGeom>
          <a:solidFill>
            <a:srgbClr val="303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786384"/>
            <a:ext cx="7955279" cy="475488"/>
          </a:xfrm>
          <a:prstGeom prst="rect">
            <a:avLst/>
          </a:prstGeom>
          <a:noFill/>
        </p:spPr>
        <p:txBody>
          <a:bodyPr wrap="square" lIns="45720" rIns="45720" anchor="t">
            <a:spAutoFit/>
          </a:bodyPr>
          <a:lstStyle/>
          <a:p>
            <a:pPr algn="l"/>
            <a:r>
              <a:rPr sz="3000" b="1" i="0">
                <a:solidFill>
                  <a:srgbClr val="E6EDF3"/>
                </a:solidFill>
                <a:latin typeface="IBM Plex Sans"/>
              </a:rPr>
              <a:t>Conclusion &amp; future scope</a:t>
            </a:r>
          </a:p>
        </p:txBody>
      </p:sp>
      <p:sp>
        <p:nvSpPr>
          <p:cNvPr id="8" name="TextBox 7"/>
          <p:cNvSpPr txBox="1"/>
          <p:nvPr/>
        </p:nvSpPr>
        <p:spPr>
          <a:xfrm>
            <a:off x="566927" y="1287073"/>
            <a:ext cx="7955279" cy="230832"/>
          </a:xfrm>
          <a:prstGeom prst="rect">
            <a:avLst/>
          </a:prstGeom>
          <a:noFill/>
        </p:spPr>
        <p:txBody>
          <a:bodyPr wrap="square" lIns="45720" rIns="45720" anchor="t">
            <a:spAutoFit/>
          </a:bodyPr>
          <a:lstStyle/>
          <a:p>
            <a:r>
              <a:rPr sz="900" dirty="0">
                <a:solidFill>
                  <a:schemeClr val="bg1"/>
                </a:solidFill>
              </a:rPr>
              <a:t>Current system → next stage of platform evolution</a:t>
            </a:r>
          </a:p>
        </p:txBody>
      </p:sp>
      <p:sp>
        <p:nvSpPr>
          <p:cNvPr id="9" name="Rounded Rectangle 8"/>
          <p:cNvSpPr/>
          <p:nvPr/>
        </p:nvSpPr>
        <p:spPr>
          <a:xfrm>
            <a:off x="658368" y="1783080"/>
            <a:ext cx="5120640" cy="3474720"/>
          </a:xfrm>
          <a:prstGeom prst="roundRect">
            <a:avLst/>
          </a:prstGeom>
          <a:solidFill>
            <a:srgbClr val="161B22"/>
          </a:solidFill>
          <a:ln w="1016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87553" y="2005796"/>
            <a:ext cx="4791455" cy="246221"/>
          </a:xfrm>
          <a:prstGeom prst="rect">
            <a:avLst/>
          </a:prstGeom>
          <a:noFill/>
        </p:spPr>
        <p:txBody>
          <a:bodyPr wrap="square" lIns="45720" rIns="45720" anchor="t">
            <a:spAutoFit/>
          </a:bodyPr>
          <a:lstStyle/>
          <a:p>
            <a:pPr algn="l"/>
            <a:r>
              <a:rPr sz="1000" b="1" i="0" dirty="0">
                <a:solidFill>
                  <a:srgbClr val="2DD4BF"/>
                </a:solidFill>
                <a:latin typeface="IBM Plex Mono"/>
              </a:rPr>
              <a:t>CONCLUSION</a:t>
            </a:r>
          </a:p>
        </p:txBody>
      </p:sp>
      <p:sp>
        <p:nvSpPr>
          <p:cNvPr id="11" name="TextBox 10"/>
          <p:cNvSpPr txBox="1"/>
          <p:nvPr/>
        </p:nvSpPr>
        <p:spPr>
          <a:xfrm>
            <a:off x="932688" y="2286000"/>
            <a:ext cx="4526280" cy="914400"/>
          </a:xfrm>
          <a:prstGeom prst="rect">
            <a:avLst/>
          </a:prstGeom>
          <a:noFill/>
        </p:spPr>
        <p:txBody>
          <a:bodyPr wrap="square" lIns="45720" rIns="45720" anchor="t">
            <a:spAutoFit/>
          </a:bodyPr>
          <a:lstStyle/>
          <a:p>
            <a:pPr algn="l"/>
            <a:r>
              <a:rPr sz="2300" b="1" i="0" dirty="0">
                <a:solidFill>
                  <a:srgbClr val="E6EDF3"/>
                </a:solidFill>
                <a:latin typeface="IBM Plex Sans"/>
              </a:rPr>
              <a:t>Combines multi-agent orchestration, MCP, and explainable analytics into one decision-intelligence platform.</a:t>
            </a:r>
          </a:p>
        </p:txBody>
      </p:sp>
      <p:sp>
        <p:nvSpPr>
          <p:cNvPr id="12" name="TextBox 11"/>
          <p:cNvSpPr txBox="1"/>
          <p:nvPr/>
        </p:nvSpPr>
        <p:spPr>
          <a:xfrm>
            <a:off x="932688" y="4407408"/>
            <a:ext cx="2743200" cy="182880"/>
          </a:xfrm>
          <a:prstGeom prst="rect">
            <a:avLst/>
          </a:prstGeom>
          <a:noFill/>
        </p:spPr>
        <p:txBody>
          <a:bodyPr wrap="square" lIns="45720" rIns="45720" anchor="t">
            <a:spAutoFit/>
          </a:bodyPr>
          <a:lstStyle/>
          <a:p>
            <a:pPr algn="l"/>
            <a:r>
              <a:rPr sz="1000" b="1" i="0">
                <a:solidFill>
                  <a:srgbClr val="2DD4BF"/>
                </a:solidFill>
                <a:latin typeface="IBM Plex Mono"/>
              </a:rPr>
              <a:t>CURRENT SYSTEM</a:t>
            </a:r>
          </a:p>
        </p:txBody>
      </p:sp>
      <p:sp>
        <p:nvSpPr>
          <p:cNvPr id="13" name="Rectangle 12"/>
          <p:cNvSpPr/>
          <p:nvPr/>
        </p:nvSpPr>
        <p:spPr>
          <a:xfrm>
            <a:off x="932688" y="5029200"/>
            <a:ext cx="4251960" cy="9144"/>
          </a:xfrm>
          <a:prstGeom prst="rect">
            <a:avLst/>
          </a:prstGeom>
          <a:solidFill>
            <a:srgbClr val="303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 name="Connector 13"/>
          <p:cNvCxnSpPr/>
          <p:nvPr/>
        </p:nvCxnSpPr>
        <p:spPr>
          <a:xfrm flipV="1">
            <a:off x="932688" y="4904475"/>
            <a:ext cx="850392" cy="49744"/>
          </a:xfrm>
          <a:prstGeom prst="line">
            <a:avLst/>
          </a:prstGeom>
          <a:ln w="15240">
            <a:solidFill>
              <a:srgbClr val="2DD4B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783080" y="4904475"/>
            <a:ext cx="850392" cy="12436"/>
          </a:xfrm>
          <a:prstGeom prst="line">
            <a:avLst/>
          </a:prstGeom>
          <a:ln w="15240">
            <a:solidFill>
              <a:srgbClr val="2DD4B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633472" y="4851623"/>
            <a:ext cx="850392" cy="65288"/>
          </a:xfrm>
          <a:prstGeom prst="line">
            <a:avLst/>
          </a:prstGeom>
          <a:ln w="15240">
            <a:solidFill>
              <a:srgbClr val="2DD4BF"/>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483864" y="4851623"/>
            <a:ext cx="850392" cy="15545"/>
          </a:xfrm>
          <a:prstGeom prst="line">
            <a:avLst/>
          </a:prstGeom>
          <a:ln w="15240">
            <a:solidFill>
              <a:srgbClr val="2DD4BF"/>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4334256" y="4792553"/>
            <a:ext cx="850392" cy="74615"/>
          </a:xfrm>
          <a:prstGeom prst="line">
            <a:avLst/>
          </a:prstGeom>
          <a:ln w="15240">
            <a:solidFill>
              <a:srgbClr val="2DD4BF"/>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144768" y="1783080"/>
            <a:ext cx="5394960" cy="3474720"/>
          </a:xfrm>
          <a:prstGeom prst="roundRect">
            <a:avLst/>
          </a:prstGeom>
          <a:solidFill>
            <a:srgbClr val="161B22"/>
          </a:solidFill>
          <a:ln w="1016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83096" y="1984581"/>
            <a:ext cx="5065776" cy="246221"/>
          </a:xfrm>
          <a:prstGeom prst="rect">
            <a:avLst/>
          </a:prstGeom>
          <a:noFill/>
        </p:spPr>
        <p:txBody>
          <a:bodyPr wrap="square" lIns="45720" rIns="45720" anchor="t">
            <a:spAutoFit/>
          </a:bodyPr>
          <a:lstStyle/>
          <a:p>
            <a:pPr algn="l"/>
            <a:r>
              <a:rPr sz="1000" b="1" i="0" dirty="0">
                <a:solidFill>
                  <a:srgbClr val="8B5CF6"/>
                </a:solidFill>
                <a:latin typeface="IBM Plex Mono"/>
              </a:rPr>
              <a:t>FUTURE SCOPE</a:t>
            </a:r>
          </a:p>
        </p:txBody>
      </p:sp>
      <p:sp>
        <p:nvSpPr>
          <p:cNvPr id="21" name="Oval 20"/>
          <p:cNvSpPr/>
          <p:nvPr/>
        </p:nvSpPr>
        <p:spPr>
          <a:xfrm>
            <a:off x="6419088" y="2432303"/>
            <a:ext cx="64008" cy="64008"/>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83679" y="2331720"/>
            <a:ext cx="4544568" cy="420624"/>
          </a:xfrm>
          <a:prstGeom prst="rect">
            <a:avLst/>
          </a:prstGeom>
          <a:noFill/>
        </p:spPr>
        <p:txBody>
          <a:bodyPr wrap="square" lIns="45720" rIns="45720" anchor="t">
            <a:spAutoFit/>
          </a:bodyPr>
          <a:lstStyle/>
          <a:p>
            <a:pPr algn="l"/>
            <a:r>
              <a:rPr sz="1400" b="0" i="0" dirty="0">
                <a:solidFill>
                  <a:srgbClr val="E6EDF3"/>
                </a:solidFill>
                <a:latin typeface="IBM Plex Sans"/>
              </a:rPr>
              <a:t>Extend to small and mid-sized enterprises for self-service analytics without a dedicated data team.</a:t>
            </a:r>
          </a:p>
        </p:txBody>
      </p:sp>
      <p:sp>
        <p:nvSpPr>
          <p:cNvPr id="23" name="Oval 22"/>
          <p:cNvSpPr/>
          <p:nvPr/>
        </p:nvSpPr>
        <p:spPr>
          <a:xfrm>
            <a:off x="6419088" y="2926079"/>
            <a:ext cx="64008" cy="64008"/>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83679" y="2825496"/>
            <a:ext cx="4544568" cy="420624"/>
          </a:xfrm>
          <a:prstGeom prst="rect">
            <a:avLst/>
          </a:prstGeom>
          <a:noFill/>
        </p:spPr>
        <p:txBody>
          <a:bodyPr wrap="square" lIns="45720" rIns="45720" anchor="t">
            <a:spAutoFit/>
          </a:bodyPr>
          <a:lstStyle/>
          <a:p>
            <a:pPr algn="l"/>
            <a:r>
              <a:rPr sz="1400" b="0" i="0">
                <a:solidFill>
                  <a:srgbClr val="E6EDF3"/>
                </a:solidFill>
                <a:latin typeface="IBM Plex Sans"/>
              </a:rPr>
              <a:t>Add role-based access control and enterprise single sign-on for secure multi-user deployment.</a:t>
            </a:r>
          </a:p>
        </p:txBody>
      </p:sp>
      <p:sp>
        <p:nvSpPr>
          <p:cNvPr id="25" name="Oval 24"/>
          <p:cNvSpPr/>
          <p:nvPr/>
        </p:nvSpPr>
        <p:spPr>
          <a:xfrm>
            <a:off x="6419088" y="3419856"/>
            <a:ext cx="64008" cy="64008"/>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83679" y="3319272"/>
            <a:ext cx="4544568" cy="420624"/>
          </a:xfrm>
          <a:prstGeom prst="rect">
            <a:avLst/>
          </a:prstGeom>
          <a:noFill/>
        </p:spPr>
        <p:txBody>
          <a:bodyPr wrap="square" lIns="45720" rIns="45720" anchor="t">
            <a:spAutoFit/>
          </a:bodyPr>
          <a:lstStyle/>
          <a:p>
            <a:pPr algn="l"/>
            <a:r>
              <a:rPr sz="1400" b="0" i="0" dirty="0">
                <a:solidFill>
                  <a:srgbClr val="E6EDF3"/>
                </a:solidFill>
                <a:latin typeface="IBM Plex Sans"/>
              </a:rPr>
              <a:t>Expand the agent pipeline to support distributed, multi-node local LLM inference.</a:t>
            </a:r>
          </a:p>
        </p:txBody>
      </p:sp>
      <p:sp>
        <p:nvSpPr>
          <p:cNvPr id="29" name="TextBox 28"/>
          <p:cNvSpPr txBox="1"/>
          <p:nvPr/>
        </p:nvSpPr>
        <p:spPr>
          <a:xfrm>
            <a:off x="566928" y="6519672"/>
            <a:ext cx="5852160" cy="215444"/>
          </a:xfrm>
          <a:prstGeom prst="rect">
            <a:avLst/>
          </a:prstGeom>
          <a:noFill/>
        </p:spPr>
        <p:txBody>
          <a:bodyPr wrap="square" lIns="45720" rIns="45720" anchor="t">
            <a:spAutoFit/>
          </a:bodyPr>
          <a:lstStyle/>
          <a:p>
            <a:r>
              <a:rPr lang="it-IT" sz="800" dirty="0">
                <a:solidFill>
                  <a:srgbClr val="8B949E"/>
                </a:solidFill>
                <a:latin typeface="IBM Plex Mono"/>
              </a:rPr>
              <a:t>DATA PILOT AI  / CURRENT SYSTEM </a:t>
            </a:r>
            <a:r>
              <a:rPr lang="en-IN" sz="800" dirty="0">
                <a:solidFill>
                  <a:schemeClr val="bg1"/>
                </a:solidFill>
              </a:rPr>
              <a:t>→</a:t>
            </a:r>
            <a:r>
              <a:rPr lang="it-IT" sz="800" dirty="0">
                <a:solidFill>
                  <a:srgbClr val="8B949E"/>
                </a:solidFill>
                <a:latin typeface="IBM Plex Mono"/>
              </a:rPr>
              <a:t> FUTURE SCOPE</a:t>
            </a:r>
          </a:p>
        </p:txBody>
      </p:sp>
      <p:sp>
        <p:nvSpPr>
          <p:cNvPr id="30" name="TextBox 29"/>
          <p:cNvSpPr txBox="1"/>
          <p:nvPr/>
        </p:nvSpPr>
        <p:spPr>
          <a:xfrm>
            <a:off x="11201400" y="6501384"/>
            <a:ext cx="228600" cy="182880"/>
          </a:xfrm>
          <a:prstGeom prst="rect">
            <a:avLst/>
          </a:prstGeom>
          <a:noFill/>
        </p:spPr>
        <p:txBody>
          <a:bodyPr wrap="square" lIns="45720" rIns="45720" anchor="t">
            <a:spAutoFit/>
          </a:bodyPr>
          <a:lstStyle/>
          <a:p>
            <a:r>
              <a:rPr sz="900"/>
              <a:t>→</a:t>
            </a: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7371</TotalTime>
  <Words>894</Words>
  <Application>Microsoft Office PowerPoint</Application>
  <PresentationFormat>Widescreen</PresentationFormat>
  <Paragraphs>182</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IBM Plex Mono</vt:lpstr>
      <vt:lpstr>IBM Plex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Ashish Ramana</dc:creator>
  <cp:keywords/>
  <dc:description>generated using python-pptx</dc:description>
  <cp:lastModifiedBy>ashishramana1708@outlook.com</cp:lastModifiedBy>
  <cp:revision>13</cp:revision>
  <dcterms:created xsi:type="dcterms:W3CDTF">2013-01-27T09:14:16Z</dcterms:created>
  <dcterms:modified xsi:type="dcterms:W3CDTF">2026-10-06T10:03:37Z</dcterms:modified>
  <cp:category/>
</cp:coreProperties>
</file>